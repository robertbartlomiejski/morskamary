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8" r:id="rId3"/>
    <p:sldId id="259" r:id="rId4"/>
    <p:sldId id="261"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1" d="100"/>
          <a:sy n="41" d="100"/>
        </p:scale>
        <p:origin x="54"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155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(approx. 60–90 seconds)
What we are introducing today is a WG3 method for making energy transition *empirically visible* through the body and through situated perception in port city territories. We treat the port city as performative: meanings are not only stated in plans and policy, but enacted through infrastructures, routines, access regimes, sounds, smells, and atmospheres.
The Sensory Walk is designed to be lightweight in the field and rigorous afterwards: it standardises observation through a shared vocabulary, and it turns lived cues into a dataset that can travel across cities and roles. The key promise is comparability—across pilot sites, participant roles, and stakeholder perspectives.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(approx. 2 minutes)
This is the core logic we want everyone to use consistently.
A Trigger is a concrete cue—something you can point to: a low-frequency hum from shore power infrastructure, the diesel odour around RoRo, a fence that reroutes pedestrians, a sign that claims “green terminal”.
Coding is intentionally restrained: we do not jump to interpretation yet. We select the sense, we record binary detection, intensity, valence, and importantly the scale and subsystem. This is where we ensure comparability.
Translation is where the judgement enters—explicitly. We write a boundary term that can travel between stakeholders. For example, a sound can be translated as “OPS noise signature requiring acoustic mitigation” rather than a vague “annoying noise”.
Performance is the action implication: what is being enacted, and what intervention could shift the experience? We treat this as a design- and governance-facing output rather than an abstract critique.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(approx. 2 minutes)
WG3 uses an expanded sensory vocabulary to prevent us from collapsing experience into only what is visible.
The first group covers basic and embodied senses. Sight, hearing, smell, touch and taste are familiar, but we use them in a structured way: we record contrasts, intensity, and valence.
We then add proprioception and kinaesthesia because port city territories are often negotiated through barriers, rerouted paths, uneven surfaces, and restricted zones. Energy transition is not only “seen”; it is *navigated*.
A practical instruction: when coding, pick the dominant sense for the trigger, but note co-occurring senses if they matter for translation and performance.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track (approx. 2–3 minutes)
Finally, we need to show how this becomes an output beyond field notes.
The Pentad is our way to stabilise interpretation: each record can be re-described as an act in a scene by an agent using some means for some purpose. This is especially helpful when different roles disagree.
By comparing Pentad elements we can detect inconsistencies—where policy narratives, design claims, or corporate messaging do not align with the sensory and embodied evidence.
Resonance is our learning test. If we propose an intervention—noise mitigation, changed access, improved communication—does the next round of walking register a change? If nothing changes, we have performance without transformation.
All of this feeds WG3 deliverables: a glossary that documents contested meanings of transition terms, a toolkit that explains how to run and code walks, and policy-relevant narratives.
A final operational reminder is ethics: we should minimise personal data collection and follow COST data protection guidance.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0B1F3A"/>
          </a:solidFill>
          <a:ln w="12700">
            <a:solidFill>
              <a:srgbClr val="0B1F3A"/>
            </a:solidFill>
            <a:prstDash val="solid"/>
          </a:ln>
        </p:spPr>
        <p:txBody>
          <a:bodyPr/>
          <a:lstStyle/>
          <a:p>
            <a:endParaRPr lang="en-GB" noProof="0" dirty="0"/>
          </a:p>
        </p:txBody>
      </p:sp>
      <p:sp>
        <p:nvSpPr>
          <p:cNvPr id="3" name="Text 1"/>
          <p:cNvSpPr/>
          <p:nvPr/>
        </p:nvSpPr>
        <p:spPr>
          <a:xfrm>
            <a:off x="548640" y="164592"/>
            <a:ext cx="11064240" cy="457200"/>
          </a:xfrm>
          <a:prstGeom prst="rect">
            <a:avLst/>
          </a:prstGeom>
          <a:noFill/>
          <a:ln/>
        </p:spPr>
        <p:txBody>
          <a:bodyPr wrap="square" rtlCol="0" anchor="ctr"/>
          <a:lstStyle/>
          <a:p>
            <a:pPr marL="0" indent="0">
              <a:buNone/>
            </a:pPr>
            <a:r>
              <a:rPr lang="en-GB" sz="2600" b="1" noProof="0" dirty="0">
                <a:solidFill>
                  <a:srgbClr val="FFFFFF"/>
                </a:solidFill>
                <a:latin typeface="Aptos Display" pitchFamily="34" charset="0"/>
                <a:ea typeface="Aptos Display" pitchFamily="34" charset="-122"/>
                <a:cs typeface="Aptos Display" pitchFamily="34" charset="-120"/>
              </a:rPr>
              <a:t>Port City Performativity: WG3 Sensory Walk Methodology</a:t>
            </a:r>
            <a:endParaRPr lang="en-GB" sz="2600" noProof="0" dirty="0"/>
          </a:p>
        </p:txBody>
      </p:sp>
      <p:sp>
        <p:nvSpPr>
          <p:cNvPr id="4" name="Text 2"/>
          <p:cNvSpPr/>
          <p:nvPr/>
        </p:nvSpPr>
        <p:spPr>
          <a:xfrm>
            <a:off x="548640" y="1051560"/>
            <a:ext cx="11064240" cy="365760"/>
          </a:xfrm>
          <a:prstGeom prst="rect">
            <a:avLst/>
          </a:prstGeom>
          <a:noFill/>
          <a:ln/>
        </p:spPr>
        <p:txBody>
          <a:bodyPr wrap="square" rtlCol="0" anchor="ctr"/>
          <a:lstStyle/>
          <a:p>
            <a:pPr marL="0" indent="0">
              <a:buNone/>
            </a:pPr>
            <a:r>
              <a:rPr lang="en-GB" sz="1800" noProof="0" dirty="0">
                <a:solidFill>
                  <a:srgbClr val="5A6672"/>
                </a:solidFill>
                <a:latin typeface="Aptos" pitchFamily="34" charset="0"/>
                <a:ea typeface="Aptos" pitchFamily="34" charset="-122"/>
                <a:cs typeface="Aptos" pitchFamily="34" charset="-120"/>
              </a:rPr>
              <a:t>COST Action CA23138 (PACT) • Working Group 3 information session</a:t>
            </a:r>
            <a:endParaRPr lang="en-GB" sz="1800" noProof="0" dirty="0"/>
          </a:p>
        </p:txBody>
      </p:sp>
      <p:sp>
        <p:nvSpPr>
          <p:cNvPr id="5" name="Shape 3"/>
          <p:cNvSpPr/>
          <p:nvPr/>
        </p:nvSpPr>
        <p:spPr>
          <a:xfrm>
            <a:off x="548640" y="1645920"/>
            <a:ext cx="11064240" cy="4480560"/>
          </a:xfrm>
          <a:prstGeom prst="roundRect">
            <a:avLst/>
          </a:prstGeom>
          <a:solidFill>
            <a:srgbClr val="EEF3F8"/>
          </a:solidFill>
          <a:ln w="12700">
            <a:solidFill>
              <a:srgbClr val="EEF3F8"/>
            </a:solidFill>
            <a:prstDash val="solid"/>
          </a:ln>
        </p:spPr>
        <p:txBody>
          <a:bodyPr/>
          <a:lstStyle/>
          <a:p>
            <a:endParaRPr lang="en-GB" noProof="0" dirty="0"/>
          </a:p>
        </p:txBody>
      </p:sp>
      <p:sp>
        <p:nvSpPr>
          <p:cNvPr id="6" name="Text 4"/>
          <p:cNvSpPr/>
          <p:nvPr/>
        </p:nvSpPr>
        <p:spPr>
          <a:xfrm>
            <a:off x="868680" y="1920240"/>
            <a:ext cx="10424160" cy="3931920"/>
          </a:xfrm>
          <a:prstGeom prst="rect">
            <a:avLst/>
          </a:prstGeom>
          <a:noFill/>
          <a:ln/>
        </p:spPr>
        <p:txBody>
          <a:bodyPr wrap="square" rtlCol="0" anchor="t"/>
          <a:lstStyle/>
          <a:p>
            <a:pPr marL="228600" indent="-228600">
              <a:lnSpc>
                <a:spcPct val="115000"/>
              </a:lnSpc>
              <a:spcAft>
                <a:spcPts val="700"/>
              </a:spcAft>
              <a:buSzPct val="100000"/>
              <a:buChar char="•"/>
            </a:pPr>
            <a:r>
              <a:rPr lang="en-GB" sz="2000" noProof="0" dirty="0">
                <a:solidFill>
                  <a:srgbClr val="1A1A1A"/>
                </a:solidFill>
                <a:latin typeface="Aptos" pitchFamily="34" charset="0"/>
                <a:ea typeface="Aptos" pitchFamily="34" charset="-122"/>
                <a:cs typeface="Aptos" pitchFamily="34" charset="-120"/>
              </a:rPr>
              <a:t>Purpose: capture how energy transition is sensed, interpreted, and contested in Port City Territories (PCTs).</a:t>
            </a:r>
            <a:endParaRPr lang="en-GB" sz="2000" noProof="0" dirty="0"/>
          </a:p>
          <a:p>
            <a:pPr marL="228600" indent="-228600">
              <a:lnSpc>
                <a:spcPct val="115000"/>
              </a:lnSpc>
              <a:spcAft>
                <a:spcPts val="700"/>
              </a:spcAft>
              <a:buSzPct val="100000"/>
              <a:buChar char="•"/>
            </a:pPr>
            <a:r>
              <a:rPr lang="en-GB" sz="2000" noProof="0" dirty="0">
                <a:solidFill>
                  <a:srgbClr val="1A1A1A"/>
                </a:solidFill>
                <a:latin typeface="Aptos" pitchFamily="34" charset="0"/>
                <a:ea typeface="Aptos" pitchFamily="34" charset="-122"/>
                <a:cs typeface="Aptos" pitchFamily="34" charset="-120"/>
              </a:rPr>
              <a:t>Method: structured field observation + embodied/affective reporting, using shared English labels</a:t>
            </a:r>
            <a:r>
              <a:rPr lang="pl-PL" sz="2000" noProof="0" dirty="0">
                <a:solidFill>
                  <a:srgbClr val="1A1A1A"/>
                </a:solidFill>
                <a:latin typeface="Aptos" pitchFamily="34" charset="0"/>
                <a:ea typeface="Aptos" pitchFamily="34" charset="-122"/>
                <a:cs typeface="Aptos" pitchFamily="34" charset="-120"/>
              </a:rPr>
              <a:t>/ </a:t>
            </a:r>
            <a:r>
              <a:rPr lang="pl-PL" sz="2000" noProof="0" dirty="0" err="1">
                <a:solidFill>
                  <a:srgbClr val="1A1A1A"/>
                </a:solidFill>
                <a:latin typeface="Aptos" pitchFamily="34" charset="0"/>
                <a:ea typeface="Aptos" pitchFamily="34" charset="-122"/>
                <a:cs typeface="Aptos" pitchFamily="34" charset="-120"/>
              </a:rPr>
              <a:t>terms</a:t>
            </a:r>
            <a:r>
              <a:rPr lang="pl-PL" sz="2000" noProof="0" dirty="0">
                <a:solidFill>
                  <a:srgbClr val="1A1A1A"/>
                </a:solidFill>
                <a:latin typeface="Aptos" pitchFamily="34" charset="0"/>
                <a:ea typeface="Aptos" pitchFamily="34" charset="-122"/>
                <a:cs typeface="Aptos" pitchFamily="34" charset="-120"/>
              </a:rPr>
              <a:t>/ </a:t>
            </a:r>
            <a:r>
              <a:rPr lang="pl-PL" sz="2000" noProof="0" dirty="0" err="1">
                <a:solidFill>
                  <a:srgbClr val="1A1A1A"/>
                </a:solidFill>
                <a:latin typeface="Aptos" pitchFamily="34" charset="0"/>
                <a:ea typeface="Aptos" pitchFamily="34" charset="-122"/>
                <a:cs typeface="Aptos" pitchFamily="34" charset="-120"/>
              </a:rPr>
              <a:t>jargoon</a:t>
            </a:r>
            <a:r>
              <a:rPr lang="en-GB" sz="2000" noProof="0" dirty="0">
                <a:solidFill>
                  <a:srgbClr val="1A1A1A"/>
                </a:solidFill>
                <a:latin typeface="Aptos" pitchFamily="34" charset="0"/>
                <a:ea typeface="Aptos" pitchFamily="34" charset="-122"/>
                <a:cs typeface="Aptos" pitchFamily="34" charset="-120"/>
              </a:rPr>
              <a:t> and drop-down vocabularies.</a:t>
            </a:r>
            <a:endParaRPr lang="en-GB" sz="2000" noProof="0" dirty="0"/>
          </a:p>
          <a:p>
            <a:pPr marL="228600" indent="-228600">
              <a:lnSpc>
                <a:spcPct val="115000"/>
              </a:lnSpc>
              <a:spcAft>
                <a:spcPts val="700"/>
              </a:spcAft>
              <a:buSzPct val="100000"/>
              <a:buChar char="•"/>
            </a:pPr>
            <a:r>
              <a:rPr lang="en-GB" sz="2000" noProof="0" dirty="0">
                <a:solidFill>
                  <a:srgbClr val="1A1A1A"/>
                </a:solidFill>
                <a:latin typeface="Aptos" pitchFamily="34" charset="0"/>
                <a:ea typeface="Aptos" pitchFamily="34" charset="-122"/>
                <a:cs typeface="Aptos" pitchFamily="34" charset="-120"/>
              </a:rPr>
              <a:t>Outcome: comparable datasets feeding the WG3 glossary, toolkit, and policy-facing narratives (incl. pilots such as Le Havre).</a:t>
            </a:r>
            <a:endParaRPr lang="en-GB" sz="2000" noProof="0" dirty="0"/>
          </a:p>
          <a:p>
            <a:pPr marL="228600" indent="-228600">
              <a:lnSpc>
                <a:spcPct val="115000"/>
              </a:lnSpc>
              <a:spcAft>
                <a:spcPts val="700"/>
              </a:spcAft>
              <a:buSzPct val="100000"/>
              <a:buChar char="•"/>
            </a:pPr>
            <a:r>
              <a:rPr lang="en-GB" sz="2000" noProof="0" dirty="0">
                <a:solidFill>
                  <a:srgbClr val="1A1A1A"/>
                </a:solidFill>
                <a:latin typeface="Aptos" pitchFamily="34" charset="0"/>
                <a:ea typeface="Aptos" pitchFamily="34" charset="-122"/>
                <a:cs typeface="Aptos" pitchFamily="34" charset="-120"/>
              </a:rPr>
              <a:t>Analytical lens: sensorial frame subsystems (Economic, Technological, Political, Cultural) and their performative traces in space.</a:t>
            </a:r>
            <a:endParaRPr lang="en-GB" sz="2000" noProof="0" dirty="0"/>
          </a:p>
        </p:txBody>
      </p:sp>
      <p:sp>
        <p:nvSpPr>
          <p:cNvPr id="7" name="Shape 5"/>
          <p:cNvSpPr/>
          <p:nvPr/>
        </p:nvSpPr>
        <p:spPr>
          <a:xfrm>
            <a:off x="305" y="4612592"/>
            <a:ext cx="12191695" cy="228600"/>
          </a:xfrm>
          <a:prstGeom prst="rect">
            <a:avLst/>
          </a:prstGeom>
          <a:solidFill>
            <a:srgbClr val="EEF3F8"/>
          </a:solidFill>
          <a:ln w="12700">
            <a:solidFill>
              <a:srgbClr val="EEF3F8"/>
            </a:solidFill>
            <a:prstDash val="solid"/>
          </a:ln>
        </p:spPr>
        <p:txBody>
          <a:bodyPr/>
          <a:lstStyle/>
          <a:p>
            <a:endParaRPr lang="en-GB" noProof="0" dirty="0"/>
          </a:p>
        </p:txBody>
      </p:sp>
      <p:sp>
        <p:nvSpPr>
          <p:cNvPr id="8" name="Text 6"/>
          <p:cNvSpPr/>
          <p:nvPr/>
        </p:nvSpPr>
        <p:spPr>
          <a:xfrm>
            <a:off x="548640" y="6656832"/>
            <a:ext cx="8686800" cy="182880"/>
          </a:xfrm>
          <a:prstGeom prst="rect">
            <a:avLst/>
          </a:prstGeom>
          <a:noFill/>
          <a:ln/>
        </p:spPr>
        <p:txBody>
          <a:bodyPr wrap="square" rtlCol="0" anchor="ctr"/>
          <a:lstStyle/>
          <a:p>
            <a:pPr marL="0" indent="0">
              <a:buNone/>
            </a:pPr>
            <a:r>
              <a:rPr lang="en-GB" sz="1000" noProof="0" dirty="0">
                <a:solidFill>
                  <a:srgbClr val="5A6672"/>
                </a:solidFill>
                <a:latin typeface="Aptos" pitchFamily="34" charset="0"/>
                <a:ea typeface="Aptos" pitchFamily="34" charset="-122"/>
                <a:cs typeface="Aptos" pitchFamily="34" charset="-120"/>
              </a:rPr>
              <a:t>COST Action CA23138 (PACT) • Working Group 3 • Sensory Walk methodology</a:t>
            </a:r>
            <a:endParaRPr lang="en-GB" sz="1000" noProof="0" dirty="0"/>
          </a:p>
        </p:txBody>
      </p:sp>
      <p:sp>
        <p:nvSpPr>
          <p:cNvPr id="9" name="Text 7"/>
          <p:cNvSpPr/>
          <p:nvPr/>
        </p:nvSpPr>
        <p:spPr>
          <a:xfrm>
            <a:off x="9509760" y="6656832"/>
            <a:ext cx="2103120" cy="182880"/>
          </a:xfrm>
          <a:prstGeom prst="rect">
            <a:avLst/>
          </a:prstGeom>
          <a:noFill/>
          <a:ln/>
        </p:spPr>
        <p:txBody>
          <a:bodyPr wrap="square" rtlCol="0" anchor="ctr"/>
          <a:lstStyle/>
          <a:p>
            <a:pPr marL="0" indent="0" algn="r">
              <a:buNone/>
            </a:pPr>
            <a:r>
              <a:rPr lang="en-GB" sz="1000" noProof="0" dirty="0">
                <a:solidFill>
                  <a:srgbClr val="5A6672"/>
                </a:solidFill>
                <a:latin typeface="Aptos" pitchFamily="34" charset="0"/>
                <a:ea typeface="Aptos" pitchFamily="34" charset="-122"/>
                <a:cs typeface="Aptos" pitchFamily="34" charset="-120"/>
              </a:rPr>
              <a:t>v1.0</a:t>
            </a:r>
            <a:endParaRPr lang="en-GB" sz="10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0B1F3A"/>
          </a:solidFill>
          <a:ln w="12700">
            <a:solidFill>
              <a:srgbClr val="0B1F3A"/>
            </a:solidFill>
            <a:prstDash val="solid"/>
          </a:ln>
        </p:spPr>
        <p:txBody>
          <a:bodyPr/>
          <a:lstStyle/>
          <a:p>
            <a:endParaRPr lang="en-GB" noProof="0" dirty="0"/>
          </a:p>
        </p:txBody>
      </p:sp>
      <p:sp>
        <p:nvSpPr>
          <p:cNvPr id="3" name="Text 1"/>
          <p:cNvSpPr/>
          <p:nvPr/>
        </p:nvSpPr>
        <p:spPr>
          <a:xfrm>
            <a:off x="548640" y="164592"/>
            <a:ext cx="11064240" cy="457200"/>
          </a:xfrm>
          <a:prstGeom prst="rect">
            <a:avLst/>
          </a:prstGeom>
          <a:noFill/>
          <a:ln/>
        </p:spPr>
        <p:txBody>
          <a:bodyPr wrap="square" rtlCol="0" anchor="ctr"/>
          <a:lstStyle/>
          <a:p>
            <a:pPr marL="0" indent="0">
              <a:buNone/>
            </a:pPr>
            <a:r>
              <a:rPr lang="en-GB" sz="2600" b="1" noProof="0" dirty="0">
                <a:solidFill>
                  <a:srgbClr val="FFFFFF"/>
                </a:solidFill>
                <a:latin typeface="Aptos Display" pitchFamily="34" charset="0"/>
                <a:ea typeface="Aptos Display" pitchFamily="34" charset="-122"/>
                <a:cs typeface="Aptos Display" pitchFamily="34" charset="-120"/>
              </a:rPr>
              <a:t>Method chain: Trigger → Code → Translation → Performance</a:t>
            </a:r>
            <a:endParaRPr lang="en-GB" sz="2600" noProof="0" dirty="0"/>
          </a:p>
        </p:txBody>
      </p:sp>
      <p:sp>
        <p:nvSpPr>
          <p:cNvPr id="4" name="Text 2"/>
          <p:cNvSpPr/>
          <p:nvPr/>
        </p:nvSpPr>
        <p:spPr>
          <a:xfrm>
            <a:off x="548640" y="960120"/>
            <a:ext cx="11064240" cy="365760"/>
          </a:xfrm>
          <a:prstGeom prst="rect">
            <a:avLst/>
          </a:prstGeom>
          <a:noFill/>
          <a:ln/>
        </p:spPr>
        <p:txBody>
          <a:bodyPr wrap="square" rtlCol="0" anchor="ctr"/>
          <a:lstStyle/>
          <a:p>
            <a:pPr marL="0" indent="0">
              <a:buNone/>
            </a:pPr>
            <a:r>
              <a:rPr lang="en-GB" sz="1600" noProof="0" dirty="0">
                <a:solidFill>
                  <a:srgbClr val="5A6672"/>
                </a:solidFill>
                <a:latin typeface="Aptos" pitchFamily="34" charset="0"/>
                <a:ea typeface="Aptos" pitchFamily="34" charset="-122"/>
                <a:cs typeface="Aptos" pitchFamily="34" charset="-120"/>
              </a:rPr>
              <a:t>From a sensory cue to an actionable intervention (and a recordable micro-narrative).</a:t>
            </a:r>
            <a:endParaRPr lang="en-GB" sz="1600" noProof="0" dirty="0"/>
          </a:p>
        </p:txBody>
      </p:sp>
      <p:sp>
        <p:nvSpPr>
          <p:cNvPr id="5" name="Shape 3"/>
          <p:cNvSpPr/>
          <p:nvPr/>
        </p:nvSpPr>
        <p:spPr>
          <a:xfrm>
            <a:off x="548640" y="1874520"/>
            <a:ext cx="2602154" cy="1097280"/>
          </a:xfrm>
          <a:prstGeom prst="roundRect">
            <a:avLst/>
          </a:prstGeom>
          <a:solidFill>
            <a:srgbClr val="EEF3F8"/>
          </a:solidFill>
          <a:ln w="19050">
            <a:solidFill>
              <a:srgbClr val="1B6CA8"/>
            </a:solidFill>
            <a:prstDash val="solid"/>
          </a:ln>
        </p:spPr>
        <p:txBody>
          <a:bodyPr/>
          <a:lstStyle/>
          <a:p>
            <a:endParaRPr lang="en-GB" noProof="0" dirty="0"/>
          </a:p>
        </p:txBody>
      </p:sp>
      <p:sp>
        <p:nvSpPr>
          <p:cNvPr id="6" name="Text 4"/>
          <p:cNvSpPr/>
          <p:nvPr/>
        </p:nvSpPr>
        <p:spPr>
          <a:xfrm>
            <a:off x="685800" y="1965960"/>
            <a:ext cx="2327834" cy="320040"/>
          </a:xfrm>
          <a:prstGeom prst="rect">
            <a:avLst/>
          </a:prstGeom>
          <a:noFill/>
          <a:ln/>
        </p:spPr>
        <p:txBody>
          <a:bodyPr wrap="square" rtlCol="0" anchor="ctr"/>
          <a:lstStyle/>
          <a:p>
            <a:pPr marL="0" indent="0" algn="ctr">
              <a:buNone/>
            </a:pPr>
            <a:r>
              <a:rPr lang="en-GB" sz="1800" b="1" noProof="0" dirty="0">
                <a:solidFill>
                  <a:srgbClr val="0B1F3A"/>
                </a:solidFill>
                <a:latin typeface="Aptos Display" pitchFamily="34" charset="0"/>
                <a:ea typeface="Aptos Display" pitchFamily="34" charset="-122"/>
                <a:cs typeface="Aptos Display" pitchFamily="34" charset="-120"/>
              </a:rPr>
              <a:t>Trigger</a:t>
            </a:r>
            <a:endParaRPr lang="en-GB" sz="1800" noProof="0" dirty="0"/>
          </a:p>
        </p:txBody>
      </p:sp>
      <p:sp>
        <p:nvSpPr>
          <p:cNvPr id="7" name="Text 5"/>
          <p:cNvSpPr/>
          <p:nvPr/>
        </p:nvSpPr>
        <p:spPr>
          <a:xfrm>
            <a:off x="731520" y="2331720"/>
            <a:ext cx="2236394" cy="594360"/>
          </a:xfrm>
          <a:prstGeom prst="rect">
            <a:avLst/>
          </a:prstGeom>
          <a:noFill/>
          <a:ln/>
        </p:spPr>
        <p:txBody>
          <a:bodyPr wrap="square" rtlCol="0" anchor="ctr"/>
          <a:lstStyle/>
          <a:p>
            <a:pPr marL="0" indent="0" algn="ctr">
              <a:buNone/>
            </a:pPr>
            <a:r>
              <a:rPr lang="en-GB" sz="1300" noProof="0" dirty="0">
                <a:solidFill>
                  <a:srgbClr val="1A1A1A"/>
                </a:solidFill>
                <a:latin typeface="Aptos" pitchFamily="34" charset="0"/>
                <a:ea typeface="Aptos" pitchFamily="34" charset="-122"/>
                <a:cs typeface="Aptos" pitchFamily="34" charset="-120"/>
              </a:rPr>
              <a:t>A concrete cue</a:t>
            </a:r>
            <a:endParaRPr lang="en-GB" sz="1300" noProof="0" dirty="0"/>
          </a:p>
          <a:p>
            <a:pPr marL="0" indent="0" algn="ctr">
              <a:buNone/>
            </a:pPr>
            <a:r>
              <a:rPr lang="en-GB" sz="1300" noProof="0" dirty="0">
                <a:solidFill>
                  <a:srgbClr val="1A1A1A"/>
                </a:solidFill>
                <a:latin typeface="Aptos" pitchFamily="34" charset="0"/>
                <a:ea typeface="Aptos" pitchFamily="34" charset="-122"/>
                <a:cs typeface="Aptos" pitchFamily="34" charset="-120"/>
              </a:rPr>
              <a:t>seen / heard / smelled / felt</a:t>
            </a:r>
            <a:endParaRPr lang="en-GB" sz="1300" noProof="0" dirty="0"/>
          </a:p>
        </p:txBody>
      </p:sp>
      <p:sp>
        <p:nvSpPr>
          <p:cNvPr id="8" name="Shape 6"/>
          <p:cNvSpPr/>
          <p:nvPr/>
        </p:nvSpPr>
        <p:spPr>
          <a:xfrm>
            <a:off x="3178226" y="2423160"/>
            <a:ext cx="173736" cy="0"/>
          </a:xfrm>
          <a:prstGeom prst="line">
            <a:avLst/>
          </a:prstGeom>
          <a:noFill/>
          <a:ln w="25400">
            <a:solidFill>
              <a:srgbClr val="5A6672"/>
            </a:solidFill>
            <a:prstDash val="solid"/>
            <a:headEnd type="none"/>
            <a:tailEnd type="triangle"/>
          </a:ln>
        </p:spPr>
        <p:txBody>
          <a:bodyPr/>
          <a:lstStyle/>
          <a:p>
            <a:endParaRPr lang="en-GB" noProof="0" dirty="0"/>
          </a:p>
        </p:txBody>
      </p:sp>
      <p:sp>
        <p:nvSpPr>
          <p:cNvPr id="9" name="Shape 7"/>
          <p:cNvSpPr/>
          <p:nvPr/>
        </p:nvSpPr>
        <p:spPr>
          <a:xfrm>
            <a:off x="3379394" y="1874520"/>
            <a:ext cx="2602154" cy="1097280"/>
          </a:xfrm>
          <a:prstGeom prst="roundRect">
            <a:avLst/>
          </a:prstGeom>
          <a:solidFill>
            <a:srgbClr val="EEF3F8"/>
          </a:solidFill>
          <a:ln w="19050">
            <a:solidFill>
              <a:srgbClr val="1B6CA8"/>
            </a:solidFill>
            <a:prstDash val="solid"/>
          </a:ln>
        </p:spPr>
        <p:txBody>
          <a:bodyPr/>
          <a:lstStyle/>
          <a:p>
            <a:endParaRPr lang="en-GB" noProof="0" dirty="0"/>
          </a:p>
        </p:txBody>
      </p:sp>
      <p:sp>
        <p:nvSpPr>
          <p:cNvPr id="10" name="Text 8"/>
          <p:cNvSpPr/>
          <p:nvPr/>
        </p:nvSpPr>
        <p:spPr>
          <a:xfrm>
            <a:off x="3516554" y="1965960"/>
            <a:ext cx="2327834" cy="320040"/>
          </a:xfrm>
          <a:prstGeom prst="rect">
            <a:avLst/>
          </a:prstGeom>
          <a:noFill/>
          <a:ln/>
        </p:spPr>
        <p:txBody>
          <a:bodyPr wrap="square" rtlCol="0" anchor="ctr"/>
          <a:lstStyle/>
          <a:p>
            <a:pPr marL="0" indent="0" algn="ctr">
              <a:buNone/>
            </a:pPr>
            <a:r>
              <a:rPr lang="en-GB" sz="1800" b="1" noProof="0" dirty="0">
                <a:solidFill>
                  <a:srgbClr val="0B1F3A"/>
                </a:solidFill>
                <a:latin typeface="Aptos Display" pitchFamily="34" charset="0"/>
                <a:ea typeface="Aptos Display" pitchFamily="34" charset="-122"/>
                <a:cs typeface="Aptos Display" pitchFamily="34" charset="-120"/>
              </a:rPr>
              <a:t>Code</a:t>
            </a:r>
            <a:endParaRPr lang="en-GB" sz="1800" noProof="0" dirty="0"/>
          </a:p>
        </p:txBody>
      </p:sp>
      <p:sp>
        <p:nvSpPr>
          <p:cNvPr id="11" name="Text 9"/>
          <p:cNvSpPr/>
          <p:nvPr/>
        </p:nvSpPr>
        <p:spPr>
          <a:xfrm>
            <a:off x="3562274" y="2331720"/>
            <a:ext cx="2236394" cy="594360"/>
          </a:xfrm>
          <a:prstGeom prst="rect">
            <a:avLst/>
          </a:prstGeom>
          <a:noFill/>
          <a:ln/>
        </p:spPr>
        <p:txBody>
          <a:bodyPr wrap="square" rtlCol="0" anchor="ctr"/>
          <a:lstStyle/>
          <a:p>
            <a:pPr marL="0" indent="0" algn="ctr">
              <a:buNone/>
            </a:pPr>
            <a:r>
              <a:rPr lang="en-GB" sz="1300" noProof="0" dirty="0">
                <a:solidFill>
                  <a:srgbClr val="1A1A1A"/>
                </a:solidFill>
                <a:latin typeface="Aptos" pitchFamily="34" charset="0"/>
                <a:ea typeface="Aptos" pitchFamily="34" charset="-122"/>
                <a:cs typeface="Aptos" pitchFamily="34" charset="-120"/>
              </a:rPr>
              <a:t>Classify with Matrix fields</a:t>
            </a:r>
            <a:endParaRPr lang="en-GB" sz="1300" noProof="0" dirty="0"/>
          </a:p>
          <a:p>
            <a:pPr marL="0" indent="0" algn="ctr">
              <a:buNone/>
            </a:pPr>
            <a:r>
              <a:rPr lang="en-GB" sz="1300" noProof="0" dirty="0">
                <a:solidFill>
                  <a:srgbClr val="1A1A1A"/>
                </a:solidFill>
                <a:latin typeface="Aptos" pitchFamily="34" charset="0"/>
                <a:ea typeface="Aptos" pitchFamily="34" charset="-122"/>
                <a:cs typeface="Aptos" pitchFamily="34" charset="-120"/>
              </a:rPr>
              <a:t>(sense, intensity, valence, scale, subsystem…)</a:t>
            </a:r>
            <a:endParaRPr lang="en-GB" sz="1300" noProof="0" dirty="0"/>
          </a:p>
        </p:txBody>
      </p:sp>
      <p:sp>
        <p:nvSpPr>
          <p:cNvPr id="12" name="Shape 10"/>
          <p:cNvSpPr/>
          <p:nvPr/>
        </p:nvSpPr>
        <p:spPr>
          <a:xfrm>
            <a:off x="6008980" y="2423160"/>
            <a:ext cx="173736" cy="0"/>
          </a:xfrm>
          <a:prstGeom prst="line">
            <a:avLst/>
          </a:prstGeom>
          <a:noFill/>
          <a:ln w="25400">
            <a:solidFill>
              <a:srgbClr val="5A6672"/>
            </a:solidFill>
            <a:prstDash val="solid"/>
            <a:headEnd type="none"/>
            <a:tailEnd type="triangle"/>
          </a:ln>
        </p:spPr>
        <p:txBody>
          <a:bodyPr/>
          <a:lstStyle/>
          <a:p>
            <a:endParaRPr lang="en-GB" noProof="0" dirty="0"/>
          </a:p>
        </p:txBody>
      </p:sp>
      <p:sp>
        <p:nvSpPr>
          <p:cNvPr id="13" name="Shape 11"/>
          <p:cNvSpPr/>
          <p:nvPr/>
        </p:nvSpPr>
        <p:spPr>
          <a:xfrm>
            <a:off x="6210148" y="1874520"/>
            <a:ext cx="2602154" cy="1097280"/>
          </a:xfrm>
          <a:prstGeom prst="roundRect">
            <a:avLst/>
          </a:prstGeom>
          <a:solidFill>
            <a:srgbClr val="EEF3F8"/>
          </a:solidFill>
          <a:ln w="19050">
            <a:solidFill>
              <a:srgbClr val="1B6CA8"/>
            </a:solidFill>
            <a:prstDash val="solid"/>
          </a:ln>
        </p:spPr>
        <p:txBody>
          <a:bodyPr/>
          <a:lstStyle/>
          <a:p>
            <a:endParaRPr lang="en-GB" noProof="0" dirty="0"/>
          </a:p>
        </p:txBody>
      </p:sp>
      <p:sp>
        <p:nvSpPr>
          <p:cNvPr id="14" name="Text 12"/>
          <p:cNvSpPr/>
          <p:nvPr/>
        </p:nvSpPr>
        <p:spPr>
          <a:xfrm>
            <a:off x="6347308" y="1965960"/>
            <a:ext cx="2327834" cy="320040"/>
          </a:xfrm>
          <a:prstGeom prst="rect">
            <a:avLst/>
          </a:prstGeom>
          <a:noFill/>
          <a:ln/>
        </p:spPr>
        <p:txBody>
          <a:bodyPr wrap="square" rtlCol="0" anchor="ctr"/>
          <a:lstStyle/>
          <a:p>
            <a:pPr marL="0" indent="0" algn="ctr">
              <a:buNone/>
            </a:pPr>
            <a:r>
              <a:rPr lang="en-GB" sz="1800" b="1" noProof="0" dirty="0">
                <a:solidFill>
                  <a:srgbClr val="0B1F3A"/>
                </a:solidFill>
                <a:latin typeface="Aptos Display" pitchFamily="34" charset="0"/>
                <a:ea typeface="Aptos Display" pitchFamily="34" charset="-122"/>
                <a:cs typeface="Aptos Display" pitchFamily="34" charset="-120"/>
              </a:rPr>
              <a:t>Translation</a:t>
            </a:r>
            <a:endParaRPr lang="en-GB" sz="1800" noProof="0" dirty="0"/>
          </a:p>
        </p:txBody>
      </p:sp>
      <p:sp>
        <p:nvSpPr>
          <p:cNvPr id="15" name="Text 13"/>
          <p:cNvSpPr/>
          <p:nvPr/>
        </p:nvSpPr>
        <p:spPr>
          <a:xfrm>
            <a:off x="6393028" y="2331720"/>
            <a:ext cx="2236394" cy="594360"/>
          </a:xfrm>
          <a:prstGeom prst="rect">
            <a:avLst/>
          </a:prstGeom>
          <a:noFill/>
          <a:ln/>
        </p:spPr>
        <p:txBody>
          <a:bodyPr wrap="square" rtlCol="0" anchor="ctr"/>
          <a:lstStyle/>
          <a:p>
            <a:pPr marL="0" indent="0" algn="ctr">
              <a:buNone/>
            </a:pPr>
            <a:r>
              <a:rPr lang="en-GB" sz="1300" noProof="0" dirty="0">
                <a:solidFill>
                  <a:srgbClr val="1A1A1A"/>
                </a:solidFill>
                <a:latin typeface="Aptos" pitchFamily="34" charset="0"/>
                <a:ea typeface="Aptos" pitchFamily="34" charset="-122"/>
                <a:cs typeface="Aptos" pitchFamily="34" charset="-120"/>
              </a:rPr>
              <a:t>Interpretation →</a:t>
            </a:r>
            <a:endParaRPr lang="en-GB" sz="1300" noProof="0" dirty="0"/>
          </a:p>
          <a:p>
            <a:pPr marL="0" indent="0" algn="ctr">
              <a:buNone/>
            </a:pPr>
            <a:r>
              <a:rPr lang="en-GB" sz="1300" noProof="0" dirty="0">
                <a:solidFill>
                  <a:srgbClr val="1A1A1A"/>
                </a:solidFill>
                <a:latin typeface="Aptos" pitchFamily="34" charset="0"/>
                <a:ea typeface="Aptos" pitchFamily="34" charset="-122"/>
                <a:cs typeface="Aptos" pitchFamily="34" charset="-120"/>
              </a:rPr>
              <a:t>boundary term for dialogue</a:t>
            </a:r>
            <a:endParaRPr lang="en-GB" sz="1300" noProof="0" dirty="0"/>
          </a:p>
        </p:txBody>
      </p:sp>
      <p:sp>
        <p:nvSpPr>
          <p:cNvPr id="16" name="Shape 14"/>
          <p:cNvSpPr/>
          <p:nvPr/>
        </p:nvSpPr>
        <p:spPr>
          <a:xfrm>
            <a:off x="8839733" y="2423160"/>
            <a:ext cx="173736" cy="0"/>
          </a:xfrm>
          <a:prstGeom prst="line">
            <a:avLst/>
          </a:prstGeom>
          <a:noFill/>
          <a:ln w="25400">
            <a:solidFill>
              <a:srgbClr val="5A6672"/>
            </a:solidFill>
            <a:prstDash val="solid"/>
            <a:headEnd type="none"/>
            <a:tailEnd type="triangle"/>
          </a:ln>
        </p:spPr>
        <p:txBody>
          <a:bodyPr/>
          <a:lstStyle/>
          <a:p>
            <a:endParaRPr lang="en-GB" noProof="0" dirty="0"/>
          </a:p>
        </p:txBody>
      </p:sp>
      <p:sp>
        <p:nvSpPr>
          <p:cNvPr id="17" name="Shape 15"/>
          <p:cNvSpPr/>
          <p:nvPr/>
        </p:nvSpPr>
        <p:spPr>
          <a:xfrm>
            <a:off x="9040901" y="1874520"/>
            <a:ext cx="2602154" cy="1097280"/>
          </a:xfrm>
          <a:prstGeom prst="roundRect">
            <a:avLst/>
          </a:prstGeom>
          <a:solidFill>
            <a:srgbClr val="EEF3F8"/>
          </a:solidFill>
          <a:ln w="19050">
            <a:solidFill>
              <a:srgbClr val="1B6CA8"/>
            </a:solidFill>
            <a:prstDash val="solid"/>
          </a:ln>
        </p:spPr>
        <p:txBody>
          <a:bodyPr/>
          <a:lstStyle/>
          <a:p>
            <a:endParaRPr lang="en-GB" noProof="0" dirty="0"/>
          </a:p>
        </p:txBody>
      </p:sp>
      <p:sp>
        <p:nvSpPr>
          <p:cNvPr id="18" name="Text 16"/>
          <p:cNvSpPr/>
          <p:nvPr/>
        </p:nvSpPr>
        <p:spPr>
          <a:xfrm>
            <a:off x="9178061" y="1965960"/>
            <a:ext cx="2327834" cy="320040"/>
          </a:xfrm>
          <a:prstGeom prst="rect">
            <a:avLst/>
          </a:prstGeom>
          <a:noFill/>
          <a:ln/>
        </p:spPr>
        <p:txBody>
          <a:bodyPr wrap="square" rtlCol="0" anchor="ctr"/>
          <a:lstStyle/>
          <a:p>
            <a:pPr marL="0" indent="0" algn="ctr">
              <a:buNone/>
            </a:pPr>
            <a:r>
              <a:rPr lang="en-GB" sz="1800" b="1" noProof="0" dirty="0">
                <a:solidFill>
                  <a:srgbClr val="0B1F3A"/>
                </a:solidFill>
                <a:latin typeface="Aptos Display" pitchFamily="34" charset="0"/>
                <a:ea typeface="Aptos Display" pitchFamily="34" charset="-122"/>
                <a:cs typeface="Aptos Display" pitchFamily="34" charset="-120"/>
              </a:rPr>
              <a:t>Performance</a:t>
            </a:r>
            <a:endParaRPr lang="en-GB" sz="1800" noProof="0" dirty="0"/>
          </a:p>
        </p:txBody>
      </p:sp>
      <p:sp>
        <p:nvSpPr>
          <p:cNvPr id="19" name="Text 17"/>
          <p:cNvSpPr/>
          <p:nvPr/>
        </p:nvSpPr>
        <p:spPr>
          <a:xfrm>
            <a:off x="9223781" y="2331720"/>
            <a:ext cx="2236394" cy="594360"/>
          </a:xfrm>
          <a:prstGeom prst="rect">
            <a:avLst/>
          </a:prstGeom>
          <a:noFill/>
          <a:ln/>
        </p:spPr>
        <p:txBody>
          <a:bodyPr wrap="square" rtlCol="0" anchor="ctr"/>
          <a:lstStyle/>
          <a:p>
            <a:pPr marL="0" indent="0" algn="ctr">
              <a:buNone/>
            </a:pPr>
            <a:r>
              <a:rPr lang="en-GB" sz="1300" noProof="0" dirty="0">
                <a:solidFill>
                  <a:srgbClr val="1A1A1A"/>
                </a:solidFill>
                <a:latin typeface="Aptos" pitchFamily="34" charset="0"/>
                <a:ea typeface="Aptos" pitchFamily="34" charset="-122"/>
                <a:cs typeface="Aptos" pitchFamily="34" charset="-120"/>
              </a:rPr>
              <a:t>Actionable intervention</a:t>
            </a:r>
            <a:endParaRPr lang="en-GB" sz="1300" noProof="0" dirty="0"/>
          </a:p>
          <a:p>
            <a:pPr marL="0" indent="0" algn="ctr">
              <a:buNone/>
            </a:pPr>
            <a:r>
              <a:rPr lang="en-GB" sz="1300" noProof="0" dirty="0">
                <a:solidFill>
                  <a:srgbClr val="1A1A1A"/>
                </a:solidFill>
                <a:latin typeface="Aptos" pitchFamily="34" charset="0"/>
                <a:ea typeface="Aptos" pitchFamily="34" charset="-122"/>
                <a:cs typeface="Aptos" pitchFamily="34" charset="-120"/>
              </a:rPr>
              <a:t>or design suggestion</a:t>
            </a:r>
            <a:endParaRPr lang="en-GB" sz="1300" noProof="0" dirty="0"/>
          </a:p>
        </p:txBody>
      </p:sp>
      <p:sp>
        <p:nvSpPr>
          <p:cNvPr id="20" name="Shape 18"/>
          <p:cNvSpPr/>
          <p:nvPr/>
        </p:nvSpPr>
        <p:spPr>
          <a:xfrm>
            <a:off x="548640" y="3246120"/>
            <a:ext cx="11064240" cy="3200400"/>
          </a:xfrm>
          <a:prstGeom prst="roundRect">
            <a:avLst/>
          </a:prstGeom>
          <a:solidFill>
            <a:srgbClr val="EEF3F8"/>
          </a:solidFill>
          <a:ln w="12700">
            <a:solidFill>
              <a:srgbClr val="EEF3F8"/>
            </a:solidFill>
            <a:prstDash val="solid"/>
          </a:ln>
        </p:spPr>
        <p:txBody>
          <a:bodyPr/>
          <a:lstStyle/>
          <a:p>
            <a:endParaRPr lang="en-GB" noProof="0" dirty="0"/>
          </a:p>
        </p:txBody>
      </p:sp>
      <p:sp>
        <p:nvSpPr>
          <p:cNvPr id="21" name="Text 19"/>
          <p:cNvSpPr/>
          <p:nvPr/>
        </p:nvSpPr>
        <p:spPr>
          <a:xfrm>
            <a:off x="868680" y="3474720"/>
            <a:ext cx="10424160" cy="2743200"/>
          </a:xfrm>
          <a:prstGeom prst="rect">
            <a:avLst/>
          </a:prstGeom>
          <a:noFill/>
          <a:ln/>
        </p:spPr>
        <p:txBody>
          <a:bodyPr wrap="square" rtlCol="0" anchor="t"/>
          <a:lstStyle/>
          <a:p>
            <a:pPr>
              <a:lnSpc>
                <a:spcPct val="115000"/>
              </a:lnSpc>
              <a:spcAft>
                <a:spcPts val="600"/>
              </a:spcAft>
              <a:buSzPct val="100000"/>
            </a:pPr>
            <a:r>
              <a:rPr lang="pl-PL" sz="1800" noProof="0" dirty="0">
                <a:solidFill>
                  <a:srgbClr val="1A1A1A"/>
                </a:solidFill>
                <a:latin typeface="Aptos" pitchFamily="34" charset="0"/>
                <a:ea typeface="Aptos" pitchFamily="34" charset="-122"/>
                <a:cs typeface="Aptos" pitchFamily="34" charset="-120"/>
              </a:rPr>
              <a:t>FOR EACH STATION ON THE ROUTE:</a:t>
            </a:r>
          </a:p>
          <a:p>
            <a:pPr marL="205740" indent="-205740">
              <a:lnSpc>
                <a:spcPct val="115000"/>
              </a:lnSpc>
              <a:spcAft>
                <a:spcPts val="600"/>
              </a:spcAft>
              <a:buSzPct val="100000"/>
              <a:buChar char="•"/>
            </a:pPr>
            <a:r>
              <a:rPr lang="en-GB" sz="1800" noProof="0" dirty="0">
                <a:solidFill>
                  <a:srgbClr val="1A1A1A"/>
                </a:solidFill>
                <a:latin typeface="Aptos" pitchFamily="34" charset="0"/>
                <a:ea typeface="Aptos" pitchFamily="34" charset="-122"/>
                <a:cs typeface="Aptos" pitchFamily="34" charset="-120"/>
              </a:rPr>
              <a:t>Trigger = what is noticed (cue) in a specific place-time situation.</a:t>
            </a:r>
            <a:endParaRPr lang="en-GB" sz="1800" noProof="0" dirty="0"/>
          </a:p>
          <a:p>
            <a:pPr marL="205740" indent="-205740">
              <a:lnSpc>
                <a:spcPct val="115000"/>
              </a:lnSpc>
              <a:spcAft>
                <a:spcPts val="600"/>
              </a:spcAft>
              <a:buSzPct val="100000"/>
              <a:buChar char="•"/>
            </a:pPr>
            <a:r>
              <a:rPr lang="pl-PL" sz="1800" noProof="0" dirty="0">
                <a:solidFill>
                  <a:srgbClr val="1A1A1A"/>
                </a:solidFill>
                <a:latin typeface="Aptos" pitchFamily="34" charset="0"/>
                <a:ea typeface="Aptos" pitchFamily="34" charset="-122"/>
                <a:cs typeface="Aptos" pitchFamily="34" charset="-120"/>
              </a:rPr>
              <a:t>Sensory </a:t>
            </a:r>
            <a:r>
              <a:rPr lang="en-GB" sz="1800" noProof="0" dirty="0">
                <a:solidFill>
                  <a:srgbClr val="1A1A1A"/>
                </a:solidFill>
                <a:latin typeface="Aptos" pitchFamily="34" charset="0"/>
                <a:ea typeface="Aptos" pitchFamily="34" charset="-122"/>
                <a:cs typeface="Aptos" pitchFamily="34" charset="-120"/>
              </a:rPr>
              <a:t>Code = classify </a:t>
            </a:r>
            <a:r>
              <a:rPr lang="pl-PL" sz="1800" noProof="0" dirty="0" err="1">
                <a:solidFill>
                  <a:srgbClr val="1A1A1A"/>
                </a:solidFill>
                <a:latin typeface="Aptos" pitchFamily="34" charset="0"/>
                <a:ea typeface="Aptos" pitchFamily="34" charset="-122"/>
                <a:cs typeface="Aptos" pitchFamily="34" charset="-120"/>
              </a:rPr>
              <a:t>how</a:t>
            </a:r>
            <a:r>
              <a:rPr lang="pl-PL" sz="1800" noProof="0" dirty="0">
                <a:solidFill>
                  <a:srgbClr val="1A1A1A"/>
                </a:solidFill>
                <a:latin typeface="Aptos" pitchFamily="34" charset="0"/>
                <a:ea typeface="Aptos" pitchFamily="34" charset="-122"/>
                <a:cs typeface="Aptos" pitchFamily="34" charset="-120"/>
              </a:rPr>
              <a:t> </a:t>
            </a:r>
            <a:r>
              <a:rPr lang="en-GB" sz="1800" noProof="0" dirty="0">
                <a:solidFill>
                  <a:srgbClr val="1A1A1A"/>
                </a:solidFill>
                <a:latin typeface="Aptos" pitchFamily="34" charset="0"/>
                <a:ea typeface="Aptos" pitchFamily="34" charset="-122"/>
                <a:cs typeface="Aptos" pitchFamily="34" charset="-120"/>
              </a:rPr>
              <a:t>(sense, binary, intensity, valence, scale, subsystem, role).</a:t>
            </a:r>
            <a:endParaRPr lang="pl-PL" sz="1800" noProof="0" dirty="0">
              <a:solidFill>
                <a:srgbClr val="1A1A1A"/>
              </a:solidFill>
              <a:latin typeface="Aptos" pitchFamily="34" charset="0"/>
              <a:ea typeface="Aptos" pitchFamily="34" charset="-122"/>
              <a:cs typeface="Aptos" pitchFamily="34" charset="-120"/>
            </a:endParaRPr>
          </a:p>
          <a:p>
            <a:pPr marL="205740" indent="-205740">
              <a:lnSpc>
                <a:spcPct val="115000"/>
              </a:lnSpc>
              <a:spcAft>
                <a:spcPts val="600"/>
              </a:spcAft>
              <a:buSzPct val="100000"/>
              <a:buChar char="•"/>
            </a:pPr>
            <a:r>
              <a:rPr lang="pl-PL" dirty="0" err="1">
                <a:solidFill>
                  <a:srgbClr val="1A1A1A"/>
                </a:solidFill>
                <a:latin typeface="Aptos" pitchFamily="34" charset="0"/>
              </a:rPr>
              <a:t>Emotional</a:t>
            </a:r>
            <a:r>
              <a:rPr lang="pl-PL" dirty="0">
                <a:solidFill>
                  <a:srgbClr val="1A1A1A"/>
                </a:solidFill>
                <a:latin typeface="Aptos" pitchFamily="34" charset="0"/>
              </a:rPr>
              <a:t> </a:t>
            </a:r>
            <a:r>
              <a:rPr lang="pl-PL" dirty="0" err="1">
                <a:solidFill>
                  <a:srgbClr val="1A1A1A"/>
                </a:solidFill>
                <a:latin typeface="Aptos" pitchFamily="34" charset="0"/>
              </a:rPr>
              <a:t>Frame</a:t>
            </a:r>
            <a:r>
              <a:rPr lang="pl-PL" dirty="0">
                <a:solidFill>
                  <a:srgbClr val="1A1A1A"/>
                </a:solidFill>
                <a:latin typeface="Aptos" pitchFamily="34" charset="0"/>
              </a:rPr>
              <a:t> </a:t>
            </a:r>
            <a:endParaRPr lang="en-GB" sz="1800" noProof="0" dirty="0"/>
          </a:p>
          <a:p>
            <a:pPr marL="205740" indent="-205740">
              <a:lnSpc>
                <a:spcPct val="115000"/>
              </a:lnSpc>
              <a:spcAft>
                <a:spcPts val="600"/>
              </a:spcAft>
              <a:buSzPct val="100000"/>
              <a:buChar char="•"/>
            </a:pPr>
            <a:r>
              <a:rPr lang="en-GB" sz="1800" noProof="0" dirty="0">
                <a:solidFill>
                  <a:srgbClr val="1A1A1A"/>
                </a:solidFill>
                <a:latin typeface="Aptos" pitchFamily="34" charset="0"/>
                <a:ea typeface="Aptos" pitchFamily="34" charset="-122"/>
                <a:cs typeface="Aptos" pitchFamily="34" charset="-120"/>
              </a:rPr>
              <a:t>Translation = interpret and formulate </a:t>
            </a:r>
            <a:r>
              <a:rPr lang="pl-PL" dirty="0" err="1">
                <a:solidFill>
                  <a:srgbClr val="1A1A1A"/>
                </a:solidFill>
                <a:latin typeface="Aptos" pitchFamily="34" charset="0"/>
                <a:ea typeface="Aptos" pitchFamily="34" charset="-122"/>
                <a:cs typeface="Aptos" pitchFamily="34" charset="-120"/>
              </a:rPr>
              <a:t>how</a:t>
            </a:r>
            <a:r>
              <a:rPr lang="pl-PL" dirty="0">
                <a:solidFill>
                  <a:srgbClr val="1A1A1A"/>
                </a:solidFill>
                <a:latin typeface="Aptos" pitchFamily="34" charset="0"/>
                <a:ea typeface="Aptos" pitchFamily="34" charset="-122"/>
                <a:cs typeface="Aptos" pitchFamily="34" charset="-120"/>
              </a:rPr>
              <a:t>: sensory </a:t>
            </a:r>
            <a:r>
              <a:rPr lang="pl-PL" dirty="0" err="1">
                <a:solidFill>
                  <a:srgbClr val="1A1A1A"/>
                </a:solidFill>
                <a:latin typeface="Aptos" pitchFamily="34" charset="0"/>
                <a:ea typeface="Aptos" pitchFamily="34" charset="-122"/>
                <a:cs typeface="Aptos" pitchFamily="34" charset="-120"/>
              </a:rPr>
              <a:t>experience</a:t>
            </a:r>
            <a:r>
              <a:rPr lang="pl-PL" dirty="0">
                <a:solidFill>
                  <a:srgbClr val="1A1A1A"/>
                </a:solidFill>
                <a:latin typeface="Aptos" pitchFamily="34" charset="0"/>
                <a:ea typeface="Aptos" pitchFamily="34" charset="-122"/>
                <a:cs typeface="Aptos" pitchFamily="34" charset="-120"/>
              </a:rPr>
              <a:t> and </a:t>
            </a:r>
            <a:r>
              <a:rPr lang="pl-PL" dirty="0" err="1">
                <a:solidFill>
                  <a:srgbClr val="1A1A1A"/>
                </a:solidFill>
                <a:latin typeface="Aptos" pitchFamily="34" charset="0"/>
                <a:ea typeface="Aptos" pitchFamily="34" charset="-122"/>
                <a:cs typeface="Aptos" pitchFamily="34" charset="-120"/>
              </a:rPr>
              <a:t>feelings</a:t>
            </a:r>
            <a:r>
              <a:rPr lang="pl-PL" dirty="0">
                <a:solidFill>
                  <a:srgbClr val="1A1A1A"/>
                </a:solidFill>
                <a:latin typeface="Aptos" pitchFamily="34" charset="0"/>
                <a:ea typeface="Aptos" pitchFamily="34" charset="-122"/>
                <a:cs typeface="Aptos" pitchFamily="34" charset="-120"/>
              </a:rPr>
              <a:t> </a:t>
            </a:r>
            <a:r>
              <a:rPr lang="pl-PL" dirty="0">
                <a:solidFill>
                  <a:srgbClr val="1A1A1A"/>
                </a:solidFill>
                <a:latin typeface="Aptos" pitchFamily="34" charset="0"/>
                <a:ea typeface="Aptos" pitchFamily="34" charset="-122"/>
                <a:cs typeface="Aptos" pitchFamily="34" charset="-120"/>
                <a:sym typeface="Wingdings" panose="05000000000000000000" pitchFamily="2" charset="2"/>
              </a:rPr>
              <a:t></a:t>
            </a:r>
            <a:r>
              <a:rPr lang="pl-PL" sz="1800" noProof="0" dirty="0" err="1">
                <a:solidFill>
                  <a:srgbClr val="1A1A1A"/>
                </a:solidFill>
                <a:latin typeface="Aptos" pitchFamily="34" charset="0"/>
                <a:ea typeface="Aptos" pitchFamily="34" charset="-122"/>
                <a:cs typeface="Aptos" pitchFamily="34" charset="-120"/>
              </a:rPr>
              <a:t>judgment</a:t>
            </a:r>
            <a:r>
              <a:rPr lang="pl-PL" sz="1800" noProof="0" dirty="0">
                <a:solidFill>
                  <a:srgbClr val="1A1A1A"/>
                </a:solidFill>
                <a:latin typeface="Aptos" pitchFamily="34" charset="0"/>
                <a:ea typeface="Aptos" pitchFamily="34" charset="-122"/>
                <a:cs typeface="Aptos" pitchFamily="34" charset="-120"/>
              </a:rPr>
              <a:t> </a:t>
            </a:r>
            <a:r>
              <a:rPr lang="en-GB" sz="1800" noProof="0" dirty="0">
                <a:solidFill>
                  <a:srgbClr val="1A1A1A"/>
                </a:solidFill>
                <a:latin typeface="Aptos" pitchFamily="34" charset="0"/>
                <a:ea typeface="Aptos" pitchFamily="34" charset="-122"/>
                <a:cs typeface="Aptos" pitchFamily="34" charset="-120"/>
              </a:rPr>
              <a:t>.</a:t>
            </a:r>
            <a:endParaRPr lang="pl-PL" sz="1800" noProof="0" dirty="0">
              <a:solidFill>
                <a:srgbClr val="1A1A1A"/>
              </a:solidFill>
              <a:latin typeface="Aptos" pitchFamily="34" charset="0"/>
              <a:ea typeface="Aptos" pitchFamily="34" charset="-122"/>
              <a:cs typeface="Aptos" pitchFamily="34" charset="-120"/>
            </a:endParaRPr>
          </a:p>
          <a:p>
            <a:pPr marL="205740" indent="-205740">
              <a:lnSpc>
                <a:spcPct val="115000"/>
              </a:lnSpc>
              <a:spcAft>
                <a:spcPts val="600"/>
              </a:spcAft>
              <a:buSzPct val="100000"/>
              <a:buChar char="•"/>
            </a:pPr>
            <a:r>
              <a:rPr lang="pl-PL" dirty="0" err="1">
                <a:solidFill>
                  <a:srgbClr val="1A1A1A"/>
                </a:solidFill>
                <a:latin typeface="Aptos" pitchFamily="34" charset="0"/>
              </a:rPr>
              <a:t>Judgement</a:t>
            </a:r>
            <a:r>
              <a:rPr lang="pl-PL" dirty="0">
                <a:solidFill>
                  <a:srgbClr val="1A1A1A"/>
                </a:solidFill>
                <a:latin typeface="Aptos" pitchFamily="34" charset="0"/>
              </a:rPr>
              <a:t> </a:t>
            </a:r>
            <a:endParaRPr lang="en-GB" sz="1800" noProof="0" dirty="0"/>
          </a:p>
          <a:p>
            <a:pPr marL="205740" indent="-205740">
              <a:lnSpc>
                <a:spcPct val="115000"/>
              </a:lnSpc>
              <a:spcAft>
                <a:spcPts val="600"/>
              </a:spcAft>
              <a:buSzPct val="100000"/>
              <a:buChar char="•"/>
            </a:pPr>
            <a:r>
              <a:rPr lang="en-GB" sz="1800" noProof="0" dirty="0">
                <a:solidFill>
                  <a:srgbClr val="1A1A1A"/>
                </a:solidFill>
                <a:latin typeface="Aptos" pitchFamily="34" charset="0"/>
                <a:ea typeface="Aptos" pitchFamily="34" charset="-122"/>
                <a:cs typeface="Aptos" pitchFamily="34" charset="-120"/>
              </a:rPr>
              <a:t>Performance = what could/should be done </a:t>
            </a:r>
            <a:r>
              <a:rPr lang="pl-PL" sz="1800" noProof="0" dirty="0">
                <a:solidFill>
                  <a:srgbClr val="1A1A1A"/>
                </a:solidFill>
                <a:latin typeface="Aptos" pitchFamily="34" charset="0"/>
                <a:ea typeface="Aptos" pitchFamily="34" charset="-122"/>
                <a:cs typeface="Aptos" pitchFamily="34" charset="-120"/>
              </a:rPr>
              <a:t>?</a:t>
            </a:r>
            <a:r>
              <a:rPr lang="en-GB" sz="1800" noProof="0" dirty="0">
                <a:solidFill>
                  <a:srgbClr val="1A1A1A"/>
                </a:solidFill>
                <a:latin typeface="Aptos" pitchFamily="34" charset="0"/>
                <a:ea typeface="Aptos" pitchFamily="34" charset="-122"/>
                <a:cs typeface="Aptos" pitchFamily="34" charset="-120"/>
              </a:rPr>
              <a:t>(intervention, mitigation, redesign, communication).</a:t>
            </a:r>
            <a:endParaRPr lang="en-GB" sz="1800" noProof="0" dirty="0"/>
          </a:p>
        </p:txBody>
      </p:sp>
      <p:sp>
        <p:nvSpPr>
          <p:cNvPr id="22" name="Shape 20"/>
          <p:cNvSpPr/>
          <p:nvPr/>
        </p:nvSpPr>
        <p:spPr>
          <a:xfrm>
            <a:off x="0" y="6629400"/>
            <a:ext cx="12191695" cy="228600"/>
          </a:xfrm>
          <a:prstGeom prst="rect">
            <a:avLst/>
          </a:prstGeom>
          <a:solidFill>
            <a:srgbClr val="EEF3F8"/>
          </a:solidFill>
          <a:ln w="12700">
            <a:solidFill>
              <a:srgbClr val="EEF3F8"/>
            </a:solidFill>
            <a:prstDash val="solid"/>
          </a:ln>
        </p:spPr>
        <p:txBody>
          <a:bodyPr/>
          <a:lstStyle/>
          <a:p>
            <a:endParaRPr lang="en-GB" noProof="0" dirty="0"/>
          </a:p>
        </p:txBody>
      </p:sp>
      <p:sp>
        <p:nvSpPr>
          <p:cNvPr id="23" name="Text 21"/>
          <p:cNvSpPr/>
          <p:nvPr/>
        </p:nvSpPr>
        <p:spPr>
          <a:xfrm>
            <a:off x="548640" y="6656832"/>
            <a:ext cx="8686800" cy="182880"/>
          </a:xfrm>
          <a:prstGeom prst="rect">
            <a:avLst/>
          </a:prstGeom>
          <a:noFill/>
          <a:ln/>
        </p:spPr>
        <p:txBody>
          <a:bodyPr wrap="square" rtlCol="0" anchor="ctr"/>
          <a:lstStyle/>
          <a:p>
            <a:pPr marL="0" indent="0">
              <a:buNone/>
            </a:pPr>
            <a:r>
              <a:rPr lang="en-GB" sz="1000" noProof="0" dirty="0">
                <a:solidFill>
                  <a:srgbClr val="5A6672"/>
                </a:solidFill>
                <a:latin typeface="Aptos" pitchFamily="34" charset="0"/>
                <a:ea typeface="Aptos" pitchFamily="34" charset="-122"/>
                <a:cs typeface="Aptos" pitchFamily="34" charset="-120"/>
              </a:rPr>
              <a:t>COST Action CA23138 (PACT) • Working Group 3 • Sensory Walk methodology</a:t>
            </a:r>
            <a:endParaRPr lang="en-GB" sz="1000" noProof="0" dirty="0"/>
          </a:p>
        </p:txBody>
      </p:sp>
      <p:sp>
        <p:nvSpPr>
          <p:cNvPr id="24" name="Text 22"/>
          <p:cNvSpPr/>
          <p:nvPr/>
        </p:nvSpPr>
        <p:spPr>
          <a:xfrm>
            <a:off x="9509760" y="6656832"/>
            <a:ext cx="2103120" cy="182880"/>
          </a:xfrm>
          <a:prstGeom prst="rect">
            <a:avLst/>
          </a:prstGeom>
          <a:noFill/>
          <a:ln/>
        </p:spPr>
        <p:txBody>
          <a:bodyPr wrap="square" rtlCol="0" anchor="ctr"/>
          <a:lstStyle/>
          <a:p>
            <a:pPr marL="0" indent="0" algn="r">
              <a:buNone/>
            </a:pPr>
            <a:r>
              <a:rPr lang="en-GB" sz="1000" noProof="0" dirty="0">
                <a:solidFill>
                  <a:srgbClr val="5A6672"/>
                </a:solidFill>
                <a:latin typeface="Aptos" pitchFamily="34" charset="0"/>
                <a:ea typeface="Aptos" pitchFamily="34" charset="-122"/>
                <a:cs typeface="Aptos" pitchFamily="34" charset="-120"/>
              </a:rPr>
              <a:t>Operational sequence</a:t>
            </a:r>
            <a:endParaRPr lang="en-GB" sz="10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0B1F3A"/>
          </a:solidFill>
          <a:ln w="12700">
            <a:solidFill>
              <a:srgbClr val="0B1F3A"/>
            </a:solidFill>
            <a:prstDash val="solid"/>
          </a:ln>
        </p:spPr>
        <p:txBody>
          <a:bodyPr/>
          <a:lstStyle/>
          <a:p>
            <a:endParaRPr lang="en-GB" noProof="0" dirty="0"/>
          </a:p>
        </p:txBody>
      </p:sp>
      <p:sp>
        <p:nvSpPr>
          <p:cNvPr id="3" name="Text 1"/>
          <p:cNvSpPr/>
          <p:nvPr/>
        </p:nvSpPr>
        <p:spPr>
          <a:xfrm>
            <a:off x="548640" y="164592"/>
            <a:ext cx="11064240" cy="457200"/>
          </a:xfrm>
          <a:prstGeom prst="rect">
            <a:avLst/>
          </a:prstGeom>
          <a:noFill/>
          <a:ln/>
        </p:spPr>
        <p:txBody>
          <a:bodyPr wrap="square" rtlCol="0" anchor="ctr"/>
          <a:lstStyle/>
          <a:p>
            <a:pPr marL="0" indent="0">
              <a:buNone/>
            </a:pPr>
            <a:r>
              <a:rPr lang="en-GB" sz="2600" b="1" noProof="0" dirty="0">
                <a:solidFill>
                  <a:srgbClr val="FFFFFF"/>
                </a:solidFill>
                <a:latin typeface="Aptos Display" pitchFamily="34" charset="0"/>
                <a:ea typeface="Aptos Display" pitchFamily="34" charset="-122"/>
                <a:cs typeface="Aptos Display" pitchFamily="34" charset="-120"/>
              </a:rPr>
              <a:t>15-sense spectrum (1/2): Basic &amp; embodied</a:t>
            </a:r>
            <a:endParaRPr lang="en-GB" sz="2600" noProof="0" dirty="0"/>
          </a:p>
        </p:txBody>
      </p:sp>
      <p:sp>
        <p:nvSpPr>
          <p:cNvPr id="4" name="Text 2"/>
          <p:cNvSpPr/>
          <p:nvPr/>
        </p:nvSpPr>
        <p:spPr>
          <a:xfrm>
            <a:off x="548640" y="960120"/>
            <a:ext cx="11064240" cy="365760"/>
          </a:xfrm>
          <a:prstGeom prst="rect">
            <a:avLst/>
          </a:prstGeom>
          <a:noFill/>
          <a:ln/>
        </p:spPr>
        <p:txBody>
          <a:bodyPr wrap="square" rtlCol="0" anchor="ctr"/>
          <a:lstStyle/>
          <a:p>
            <a:pPr marL="0" indent="0">
              <a:buNone/>
            </a:pPr>
            <a:r>
              <a:rPr lang="en-GB" sz="1600" noProof="0" dirty="0">
                <a:solidFill>
                  <a:srgbClr val="5A6672"/>
                </a:solidFill>
                <a:latin typeface="Aptos" pitchFamily="34" charset="0"/>
                <a:ea typeface="Aptos" pitchFamily="34" charset="-122"/>
                <a:cs typeface="Aptos" pitchFamily="34" charset="-120"/>
              </a:rPr>
              <a:t>We go beyond the “five senses” to capture embodied navigation and situated perception.</a:t>
            </a:r>
            <a:endParaRPr lang="en-GB" sz="1600" noProof="0" dirty="0"/>
          </a:p>
        </p:txBody>
      </p:sp>
      <p:sp>
        <p:nvSpPr>
          <p:cNvPr id="5" name="Shape 3"/>
          <p:cNvSpPr/>
          <p:nvPr/>
        </p:nvSpPr>
        <p:spPr>
          <a:xfrm>
            <a:off x="-92364" y="1280160"/>
            <a:ext cx="8091055" cy="5074920"/>
          </a:xfrm>
          <a:prstGeom prst="roundRect">
            <a:avLst/>
          </a:prstGeom>
          <a:solidFill>
            <a:srgbClr val="EEF3F8"/>
          </a:solidFill>
          <a:ln w="12700">
            <a:solidFill>
              <a:srgbClr val="EEF3F8"/>
            </a:solidFill>
            <a:prstDash val="solid"/>
          </a:ln>
        </p:spPr>
        <p:txBody>
          <a:bodyPr/>
          <a:lstStyle/>
          <a:p>
            <a:r>
              <a:rPr lang="en-GB" sz="1000" noProof="0" dirty="0"/>
              <a:t>1. Sight (visual perception)</a:t>
            </a:r>
          </a:p>
          <a:p>
            <a:r>
              <a:rPr lang="en-GB" sz="1000" noProof="0" dirty="0"/>
              <a:t>Where and what do you see ? Look for shapes, colours, movement, light.</a:t>
            </a:r>
          </a:p>
          <a:p>
            <a:r>
              <a:rPr lang="en-GB" sz="1000" noProof="0" dirty="0"/>
              <a:t>Examples: bright vs grey | open vs closed | clean vs dirty | calm vs chaotic | natural vs industrial | familiar vs alien | green vs blue vs </a:t>
            </a:r>
            <a:r>
              <a:rPr lang="en-GB" sz="1000" noProof="0" dirty="0" err="1"/>
              <a:t>gray</a:t>
            </a:r>
            <a:r>
              <a:rPr lang="en-GB" sz="1000" noProof="0" dirty="0"/>
              <a:t> vs yellow |</a:t>
            </a:r>
          </a:p>
          <a:p>
            <a:endParaRPr lang="en-GB" sz="1000" noProof="0" dirty="0"/>
          </a:p>
          <a:p>
            <a:r>
              <a:rPr lang="en-GB" sz="1000" noProof="0" dirty="0"/>
              <a:t>2. Hearing (auditory sense)</a:t>
            </a:r>
          </a:p>
          <a:p>
            <a:r>
              <a:rPr lang="en-GB" sz="1000" noProof="0" dirty="0"/>
              <a:t>When do you know you are hearing the port? Engines, cranes, horns, waves?</a:t>
            </a:r>
          </a:p>
          <a:p>
            <a:r>
              <a:rPr lang="en-GB" sz="1000" noProof="0" dirty="0"/>
              <a:t>Examples: loud vs quiet | steady vs intermittent | human vs mechanical | day vs night | ordered vs random | pleasant vs annoying | industrial vs </a:t>
            </a:r>
            <a:r>
              <a:rPr lang="en-GB" sz="1000" noProof="0" dirty="0" err="1"/>
              <a:t>leasure</a:t>
            </a:r>
            <a:r>
              <a:rPr lang="en-GB" sz="1000" noProof="0" dirty="0"/>
              <a:t> | </a:t>
            </a:r>
          </a:p>
          <a:p>
            <a:endParaRPr lang="en-GB" sz="1000" noProof="0" dirty="0"/>
          </a:p>
          <a:p>
            <a:r>
              <a:rPr lang="en-GB" sz="1000" noProof="0" dirty="0"/>
              <a:t>3. Smell / Odour</a:t>
            </a:r>
          </a:p>
          <a:p>
            <a:r>
              <a:rPr lang="en-GB" sz="1000" noProof="0" dirty="0"/>
              <a:t>When you breathe in, what smell makes you think of the port? Fuel, algae, fish, metal?</a:t>
            </a:r>
          </a:p>
          <a:p>
            <a:r>
              <a:rPr lang="en-GB" sz="1000" noProof="0" dirty="0"/>
              <a:t>Examples: fresh vs stale | sweet vs acrid | natural vs chemical | expected vs surprising | safe vs toxic | memory-linked vs neutral</a:t>
            </a:r>
          </a:p>
          <a:p>
            <a:endParaRPr lang="en-GB" sz="1000" noProof="0" dirty="0"/>
          </a:p>
          <a:p>
            <a:r>
              <a:rPr lang="en-GB" sz="1000" noProof="0" dirty="0"/>
              <a:t>4. Touch (tactile sense)</a:t>
            </a:r>
          </a:p>
          <a:p>
            <a:r>
              <a:rPr lang="en-GB" sz="1000" noProof="0" dirty="0"/>
              <a:t>What do you feel under your skin or through surfaces?</a:t>
            </a:r>
          </a:p>
          <a:p>
            <a:r>
              <a:rPr lang="en-GB" sz="1000" noProof="0" dirty="0"/>
              <a:t>Examples: rough vs smooth | dry vs wet | cold metal vs warm wood | soft vs hard | stable vs vibrating | secure vs unsafe</a:t>
            </a:r>
          </a:p>
          <a:p>
            <a:endParaRPr lang="en-GB" sz="1000" noProof="0" dirty="0"/>
          </a:p>
          <a:p>
            <a:r>
              <a:rPr lang="en-GB" sz="1000" noProof="0" dirty="0"/>
              <a:t>5. Taste</a:t>
            </a:r>
          </a:p>
          <a:p>
            <a:r>
              <a:rPr lang="en-GB" sz="1000" noProof="0" dirty="0"/>
              <a:t>When do you taste the port—food, air, salt, metal dust?</a:t>
            </a:r>
          </a:p>
          <a:p>
            <a:r>
              <a:rPr lang="en-GB" sz="1000" noProof="0" dirty="0"/>
              <a:t>Examples: salty vs sweet | fresh vs stale | local vs foreign | pleasant vs unpleasant | light vs heavy | known vs strange</a:t>
            </a:r>
          </a:p>
          <a:p>
            <a:endParaRPr lang="en-GB" sz="1000" noProof="0" dirty="0"/>
          </a:p>
          <a:p>
            <a:r>
              <a:rPr lang="en-GB" sz="1000" noProof="0" dirty="0"/>
              <a:t>6. Proprioception (body position awareness)</a:t>
            </a:r>
          </a:p>
          <a:p>
            <a:r>
              <a:rPr lang="en-GB" sz="1000" noProof="0" dirty="0"/>
              <a:t>When do you sense through body balance that you are in a port city? On bridges, quays, ships?</a:t>
            </a:r>
          </a:p>
          <a:p>
            <a:r>
              <a:rPr lang="en-GB" sz="1000" noProof="0" dirty="0"/>
              <a:t>balanced vs unstable | tight vs loose | grounded vs floating | controlled vs drifting | slow vs fast | confined vs open</a:t>
            </a:r>
          </a:p>
          <a:p>
            <a:endParaRPr lang="en-GB" sz="1000" noProof="0" dirty="0"/>
          </a:p>
          <a:p>
            <a:r>
              <a:rPr lang="en-GB" sz="1000" noProof="0" dirty="0"/>
              <a:t>7. </a:t>
            </a:r>
            <a:r>
              <a:rPr lang="en-GB" sz="1000" noProof="0" dirty="0" err="1"/>
              <a:t>Kinesthesia</a:t>
            </a:r>
            <a:r>
              <a:rPr lang="en-GB" sz="1000" noProof="0" dirty="0"/>
              <a:t> (movement sense)</a:t>
            </a:r>
          </a:p>
          <a:p>
            <a:r>
              <a:rPr lang="en-GB" sz="1000" noProof="0" dirty="0"/>
              <a:t>What do you do to feel you are using port space—walking, cycling, crossing gates?</a:t>
            </a:r>
          </a:p>
          <a:p>
            <a:r>
              <a:rPr lang="en-GB" sz="1000" noProof="0" dirty="0"/>
              <a:t>active vs passive | directed vs wandering | light vs heavy | rhythmic vs irregular | free vs restricted | smooth vs blocked</a:t>
            </a:r>
          </a:p>
          <a:p>
            <a:endParaRPr lang="en-GB" sz="1000" noProof="0" dirty="0"/>
          </a:p>
          <a:p>
            <a:r>
              <a:rPr lang="en-GB" sz="1000" noProof="0" dirty="0"/>
              <a:t>8. Deep Feeling / Vibration</a:t>
            </a:r>
          </a:p>
          <a:p>
            <a:r>
              <a:rPr lang="en-GB" sz="1000" dirty="0"/>
              <a:t>How do you feel the port’s pulse—through floors, rails, cranes, or traffic?</a:t>
            </a:r>
          </a:p>
          <a:p>
            <a:r>
              <a:rPr lang="en-GB" sz="1000" dirty="0"/>
              <a:t>steady vs shaking | low vs high frequency | distant vs close | comforting vs disturbing | continuous vs sporadic | weak vs strong</a:t>
            </a:r>
          </a:p>
          <a:p>
            <a:endParaRPr lang="en-GB" sz="1000" noProof="0" dirty="0"/>
          </a:p>
        </p:txBody>
      </p:sp>
      <p:sp>
        <p:nvSpPr>
          <p:cNvPr id="6" name="Text 4"/>
          <p:cNvSpPr/>
          <p:nvPr/>
        </p:nvSpPr>
        <p:spPr>
          <a:xfrm>
            <a:off x="868680" y="1691640"/>
            <a:ext cx="5029200" cy="4663440"/>
          </a:xfrm>
          <a:prstGeom prst="rect">
            <a:avLst/>
          </a:prstGeom>
          <a:noFill/>
          <a:ln/>
        </p:spPr>
        <p:txBody>
          <a:bodyPr wrap="square" rtlCol="0" anchor="t"/>
          <a:lstStyle/>
          <a:p>
            <a:pPr marL="228600" indent="-228600">
              <a:spcAft>
                <a:spcPts val="600"/>
              </a:spcAft>
              <a:buSzPct val="100000"/>
              <a:buChar char="•"/>
            </a:pPr>
            <a:endParaRPr lang="en-GB" sz="1400" noProof="0" dirty="0"/>
          </a:p>
        </p:txBody>
      </p:sp>
      <p:sp>
        <p:nvSpPr>
          <p:cNvPr id="7" name="Text 5"/>
          <p:cNvSpPr/>
          <p:nvPr/>
        </p:nvSpPr>
        <p:spPr>
          <a:xfrm>
            <a:off x="8330277" y="1113444"/>
            <a:ext cx="5029200" cy="4663440"/>
          </a:xfrm>
          <a:prstGeom prst="rect">
            <a:avLst/>
          </a:prstGeom>
          <a:noFill/>
          <a:ln/>
        </p:spPr>
        <p:txBody>
          <a:bodyPr wrap="square" rtlCol="0" anchor="t"/>
          <a:lstStyle/>
          <a:p>
            <a:endParaRPr lang="en-GB" sz="1000" dirty="0"/>
          </a:p>
          <a:p>
            <a:r>
              <a:rPr lang="en-GB" sz="1000" dirty="0"/>
              <a:t>9. </a:t>
            </a:r>
            <a:r>
              <a:rPr lang="en-GB" sz="1000" dirty="0" err="1"/>
              <a:t>Thermoreception</a:t>
            </a:r>
            <a:r>
              <a:rPr lang="en-GB" sz="1000" dirty="0"/>
              <a:t> (temperature sense)</a:t>
            </a:r>
          </a:p>
          <a:p>
            <a:r>
              <a:rPr lang="en-GB" sz="1000" dirty="0"/>
              <a:t>How do cold and warmth change your port experience?</a:t>
            </a:r>
          </a:p>
          <a:p>
            <a:r>
              <a:rPr lang="en-GB" sz="1000" dirty="0"/>
              <a:t>cold vs hot | humid vs dry | windy vs still | morning vs afternoon | inviting vs hostile | energising vs draining</a:t>
            </a:r>
          </a:p>
          <a:p>
            <a:endParaRPr lang="en-GB" sz="1000" dirty="0"/>
          </a:p>
          <a:p>
            <a:r>
              <a:rPr lang="en-GB" sz="1000" dirty="0"/>
              <a:t>10. Nociception (pain / threat sense)</a:t>
            </a:r>
          </a:p>
          <a:p>
            <a:r>
              <a:rPr lang="en-GB" sz="1000" dirty="0"/>
              <a:t>How do you feel discomfort, fear, or danger linked to port activity?</a:t>
            </a:r>
          </a:p>
          <a:p>
            <a:r>
              <a:rPr lang="en-GB" sz="1000" dirty="0"/>
              <a:t>safe vs threatened | alert vs relaxed | overwhelmed vs in control | tension vs calm | crowded vs empty | secure vs vulnerable</a:t>
            </a:r>
          </a:p>
          <a:p>
            <a:endParaRPr lang="en-GB" sz="1000" dirty="0"/>
          </a:p>
          <a:p>
            <a:r>
              <a:rPr lang="en-GB" sz="1000" dirty="0"/>
              <a:t>11. Interoception (inner-body sense)</a:t>
            </a:r>
          </a:p>
          <a:p>
            <a:r>
              <a:rPr lang="en-GB" sz="1000" dirty="0"/>
              <a:t>How do you feel the port inside yourself—breathing rhythm, heartbeat, stomach, fatigue?</a:t>
            </a:r>
          </a:p>
          <a:p>
            <a:r>
              <a:rPr lang="en-GB" sz="1000" dirty="0"/>
              <a:t>energised vs tired | light vs heavy | calm vs agitated | hungry vs satiated | tight vs relaxed | present vs absent</a:t>
            </a:r>
          </a:p>
          <a:p>
            <a:endParaRPr lang="en-GB" sz="1000" dirty="0"/>
          </a:p>
          <a:p>
            <a:r>
              <a:rPr lang="en-GB" sz="1000" dirty="0"/>
              <a:t>12. Emotional Proprioception (emotion awareness)</a:t>
            </a:r>
          </a:p>
          <a:p>
            <a:r>
              <a:rPr lang="en-GB" sz="1000" dirty="0"/>
              <a:t>What emotions does port Szczecin evoke?</a:t>
            </a:r>
          </a:p>
          <a:p>
            <a:r>
              <a:rPr lang="en-GB" sz="1000" dirty="0"/>
              <a:t>pride vs shame | joy vs sadness | interest vs indifference | hope vs fear | attachment vs distance | trust vs distrust</a:t>
            </a:r>
          </a:p>
          <a:p>
            <a:endParaRPr lang="en-GB" sz="1000" dirty="0"/>
          </a:p>
          <a:p>
            <a:r>
              <a:rPr lang="en-GB" sz="1000" dirty="0"/>
              <a:t>13. Embodiment of energy transition in port city territory</a:t>
            </a:r>
          </a:p>
          <a:p>
            <a:r>
              <a:rPr lang="en-GB" sz="1000" dirty="0"/>
              <a:t>How do you embody energy transition in port city territory your gestures, routine, work, or memories?</a:t>
            </a:r>
          </a:p>
          <a:p>
            <a:r>
              <a:rPr lang="en-GB" sz="1000" dirty="0"/>
              <a:t>active vs passive | connected vs detached | visible vs invisible | traditional vs modern | collective vs individual | belonging vs alienation</a:t>
            </a:r>
          </a:p>
          <a:p>
            <a:endParaRPr lang="en-GB" sz="1000" dirty="0"/>
          </a:p>
          <a:p>
            <a:r>
              <a:rPr lang="en-GB" sz="1000" dirty="0"/>
              <a:t>14. Embodiment of being in port city territory</a:t>
            </a:r>
          </a:p>
          <a:p>
            <a:r>
              <a:rPr lang="en-GB" sz="1000" dirty="0"/>
              <a:t>How do you embody being in port city territory —through your spoken language, body posture, emotional expressions, gestures, routine, work, or memories?</a:t>
            </a:r>
          </a:p>
          <a:p>
            <a:r>
              <a:rPr lang="en-GB" sz="1000" dirty="0"/>
              <a:t>active vs passive | connected vs detached | visible vs invisible | traditional vs modern | collective vs individual | belonging vs alienation</a:t>
            </a:r>
          </a:p>
          <a:p>
            <a:endParaRPr lang="en-GB" sz="1000" dirty="0"/>
          </a:p>
          <a:p>
            <a:r>
              <a:rPr lang="en-GB" sz="1000" dirty="0"/>
              <a:t>15. Embodiment of being in port city</a:t>
            </a:r>
          </a:p>
          <a:p>
            <a:r>
              <a:rPr lang="en-GB" sz="1000" dirty="0"/>
              <a:t>How it is like to be in port city?</a:t>
            </a:r>
            <a:endParaRPr lang="en-GB" sz="1000" noProof="0" dirty="0"/>
          </a:p>
        </p:txBody>
      </p:sp>
      <p:sp>
        <p:nvSpPr>
          <p:cNvPr id="8" name="Shape 6"/>
          <p:cNvSpPr/>
          <p:nvPr/>
        </p:nvSpPr>
        <p:spPr>
          <a:xfrm>
            <a:off x="0" y="6629400"/>
            <a:ext cx="12191695" cy="228600"/>
          </a:xfrm>
          <a:prstGeom prst="rect">
            <a:avLst/>
          </a:prstGeom>
          <a:solidFill>
            <a:srgbClr val="EEF3F8"/>
          </a:solidFill>
          <a:ln w="12700">
            <a:solidFill>
              <a:srgbClr val="EEF3F8"/>
            </a:solidFill>
            <a:prstDash val="solid"/>
          </a:ln>
        </p:spPr>
        <p:txBody>
          <a:bodyPr/>
          <a:lstStyle/>
          <a:p>
            <a:endParaRPr lang="en-GB" noProof="0" dirty="0"/>
          </a:p>
        </p:txBody>
      </p:sp>
      <p:sp>
        <p:nvSpPr>
          <p:cNvPr id="9" name="Text 7"/>
          <p:cNvSpPr/>
          <p:nvPr/>
        </p:nvSpPr>
        <p:spPr>
          <a:xfrm>
            <a:off x="548640" y="6656832"/>
            <a:ext cx="8686800" cy="182880"/>
          </a:xfrm>
          <a:prstGeom prst="rect">
            <a:avLst/>
          </a:prstGeom>
          <a:noFill/>
          <a:ln/>
        </p:spPr>
        <p:txBody>
          <a:bodyPr wrap="square" rtlCol="0" anchor="ctr"/>
          <a:lstStyle/>
          <a:p>
            <a:pPr marL="0" indent="0">
              <a:buNone/>
            </a:pPr>
            <a:r>
              <a:rPr lang="en-GB" sz="1000" noProof="0" dirty="0">
                <a:solidFill>
                  <a:srgbClr val="5A6672"/>
                </a:solidFill>
                <a:latin typeface="Aptos" pitchFamily="34" charset="0"/>
                <a:ea typeface="Aptos" pitchFamily="34" charset="-122"/>
                <a:cs typeface="Aptos" pitchFamily="34" charset="-120"/>
              </a:rPr>
              <a:t>COST Action CA23138 (PACT) • Working Group 3 • Sensory Walk methodology</a:t>
            </a:r>
            <a:endParaRPr lang="en-GB" sz="1000" noProof="0" dirty="0"/>
          </a:p>
        </p:txBody>
      </p:sp>
      <p:sp>
        <p:nvSpPr>
          <p:cNvPr id="10" name="Text 8"/>
          <p:cNvSpPr/>
          <p:nvPr/>
        </p:nvSpPr>
        <p:spPr>
          <a:xfrm>
            <a:off x="9509760" y="6656832"/>
            <a:ext cx="2103120" cy="182880"/>
          </a:xfrm>
          <a:prstGeom prst="rect">
            <a:avLst/>
          </a:prstGeom>
          <a:noFill/>
          <a:ln/>
        </p:spPr>
        <p:txBody>
          <a:bodyPr wrap="square" rtlCol="0" anchor="ctr"/>
          <a:lstStyle/>
          <a:p>
            <a:pPr marL="0" indent="0" algn="r">
              <a:buNone/>
            </a:pPr>
            <a:r>
              <a:rPr lang="en-GB" sz="1000" noProof="0" dirty="0">
                <a:solidFill>
                  <a:srgbClr val="5A6672"/>
                </a:solidFill>
                <a:latin typeface="Aptos" pitchFamily="34" charset="0"/>
                <a:ea typeface="Aptos" pitchFamily="34" charset="-122"/>
                <a:cs typeface="Aptos" pitchFamily="34" charset="-120"/>
              </a:rPr>
              <a:t>Senses 1–7</a:t>
            </a:r>
            <a:endParaRPr lang="en-GB" sz="10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0B1F3A"/>
          </a:solidFill>
          <a:ln w="12700">
            <a:solidFill>
              <a:srgbClr val="0B1F3A"/>
            </a:solidFill>
            <a:prstDash val="solid"/>
          </a:ln>
        </p:spPr>
        <p:txBody>
          <a:bodyPr/>
          <a:lstStyle/>
          <a:p>
            <a:endParaRPr lang="en-GB" noProof="0" dirty="0"/>
          </a:p>
        </p:txBody>
      </p:sp>
      <p:sp>
        <p:nvSpPr>
          <p:cNvPr id="3" name="Text 1"/>
          <p:cNvSpPr/>
          <p:nvPr/>
        </p:nvSpPr>
        <p:spPr>
          <a:xfrm>
            <a:off x="548640" y="164592"/>
            <a:ext cx="11064240" cy="457200"/>
          </a:xfrm>
          <a:prstGeom prst="rect">
            <a:avLst/>
          </a:prstGeom>
          <a:noFill/>
          <a:ln/>
        </p:spPr>
        <p:txBody>
          <a:bodyPr wrap="square" rtlCol="0" anchor="ctr"/>
          <a:lstStyle/>
          <a:p>
            <a:pPr marL="0" indent="0">
              <a:buNone/>
            </a:pPr>
            <a:r>
              <a:rPr lang="en-GB" sz="2600" b="1" noProof="0" dirty="0">
                <a:solidFill>
                  <a:srgbClr val="FFFFFF"/>
                </a:solidFill>
                <a:latin typeface="Aptos Display" pitchFamily="34" charset="0"/>
                <a:ea typeface="Aptos Display" pitchFamily="34" charset="-122"/>
                <a:cs typeface="Aptos Display" pitchFamily="34" charset="-120"/>
              </a:rPr>
              <a:t>Sensemaking outputs: Pentad, Resonance, and WG3 deliverables</a:t>
            </a:r>
            <a:endParaRPr lang="en-GB" sz="2600" noProof="0" dirty="0"/>
          </a:p>
        </p:txBody>
      </p:sp>
      <p:sp>
        <p:nvSpPr>
          <p:cNvPr id="4" name="Text 2"/>
          <p:cNvSpPr/>
          <p:nvPr/>
        </p:nvSpPr>
        <p:spPr>
          <a:xfrm>
            <a:off x="548640" y="960120"/>
            <a:ext cx="11064240" cy="365760"/>
          </a:xfrm>
          <a:prstGeom prst="rect">
            <a:avLst/>
          </a:prstGeom>
          <a:noFill/>
          <a:ln/>
        </p:spPr>
        <p:txBody>
          <a:bodyPr wrap="square" rtlCol="0" anchor="ctr"/>
          <a:lstStyle/>
          <a:p>
            <a:pPr marL="0" indent="0">
              <a:buNone/>
            </a:pPr>
            <a:r>
              <a:rPr lang="en-GB" sz="1600" noProof="0" dirty="0">
                <a:solidFill>
                  <a:srgbClr val="5A6672"/>
                </a:solidFill>
                <a:latin typeface="Aptos" pitchFamily="34" charset="0"/>
                <a:ea typeface="Aptos" pitchFamily="34" charset="-122"/>
                <a:cs typeface="Aptos" pitchFamily="34" charset="-120"/>
              </a:rPr>
              <a:t>How coded observations become a glossary, a toolkit, and policy-relevant narratives.</a:t>
            </a:r>
            <a:endParaRPr lang="en-GB" sz="1600" noProof="0" dirty="0"/>
          </a:p>
        </p:txBody>
      </p:sp>
      <p:sp>
        <p:nvSpPr>
          <p:cNvPr id="5" name="Shape 3"/>
          <p:cNvSpPr/>
          <p:nvPr/>
        </p:nvSpPr>
        <p:spPr>
          <a:xfrm>
            <a:off x="548640" y="1417320"/>
            <a:ext cx="11064240" cy="5074920"/>
          </a:xfrm>
          <a:prstGeom prst="roundRect">
            <a:avLst/>
          </a:prstGeom>
          <a:solidFill>
            <a:srgbClr val="EEF3F8"/>
          </a:solidFill>
          <a:ln w="12700">
            <a:solidFill>
              <a:srgbClr val="EEF3F8"/>
            </a:solidFill>
            <a:prstDash val="solid"/>
          </a:ln>
        </p:spPr>
        <p:txBody>
          <a:bodyPr/>
          <a:lstStyle/>
          <a:p>
            <a:endParaRPr lang="en-GB" noProof="0" dirty="0"/>
          </a:p>
        </p:txBody>
      </p:sp>
      <p:sp>
        <p:nvSpPr>
          <p:cNvPr id="6" name="Text 4"/>
          <p:cNvSpPr/>
          <p:nvPr/>
        </p:nvSpPr>
        <p:spPr>
          <a:xfrm>
            <a:off x="868680" y="1691640"/>
            <a:ext cx="10424160" cy="4663440"/>
          </a:xfrm>
          <a:prstGeom prst="rect">
            <a:avLst/>
          </a:prstGeom>
          <a:noFill/>
          <a:ln/>
        </p:spPr>
        <p:txBody>
          <a:bodyPr wrap="square" rtlCol="0" anchor="t"/>
          <a:lstStyle/>
          <a:p>
            <a:pPr marL="194310" indent="-194310">
              <a:lnSpc>
                <a:spcPct val="115000"/>
              </a:lnSpc>
              <a:spcAft>
                <a:spcPts val="600"/>
              </a:spcAft>
              <a:buSzPct val="100000"/>
              <a:buChar char="•"/>
            </a:pPr>
            <a:r>
              <a:rPr lang="en-GB" sz="1700" noProof="0" dirty="0" err="1">
                <a:solidFill>
                  <a:srgbClr val="1A1A1A"/>
                </a:solidFill>
                <a:latin typeface="Aptos" pitchFamily="34" charset="0"/>
                <a:ea typeface="Aptos" pitchFamily="34" charset="-122"/>
                <a:cs typeface="Aptos" pitchFamily="34" charset="-120"/>
              </a:rPr>
              <a:t>Dramatistic</a:t>
            </a:r>
            <a:r>
              <a:rPr lang="en-GB" sz="1700" noProof="0" dirty="0">
                <a:solidFill>
                  <a:srgbClr val="1A1A1A"/>
                </a:solidFill>
                <a:latin typeface="Aptos" pitchFamily="34" charset="0"/>
                <a:ea typeface="Aptos" pitchFamily="34" charset="-122"/>
                <a:cs typeface="Aptos" pitchFamily="34" charset="-120"/>
              </a:rPr>
              <a:t> Pentad (Burke): </a:t>
            </a:r>
            <a:br>
              <a:rPr lang="pl-PL" sz="1700" noProof="0" dirty="0">
                <a:solidFill>
                  <a:srgbClr val="1A1A1A"/>
                </a:solidFill>
                <a:latin typeface="Aptos" pitchFamily="34" charset="0"/>
                <a:ea typeface="Aptos" pitchFamily="34" charset="-122"/>
                <a:cs typeface="Aptos" pitchFamily="34" charset="-120"/>
              </a:rPr>
            </a:br>
            <a:r>
              <a:rPr lang="en-GB" sz="1700" noProof="0" dirty="0">
                <a:solidFill>
                  <a:srgbClr val="1A1A1A"/>
                </a:solidFill>
                <a:latin typeface="Aptos" pitchFamily="34" charset="0"/>
                <a:ea typeface="Aptos" pitchFamily="34" charset="-122"/>
                <a:cs typeface="Aptos" pitchFamily="34" charset="-120"/>
              </a:rPr>
              <a:t>Act (Performance) • Scene (Scale) • Agent (Role) • Agency (Subsystem) • Purpose (Translation).</a:t>
            </a:r>
            <a:br>
              <a:rPr lang="pl-PL" sz="1700" noProof="0" dirty="0">
                <a:solidFill>
                  <a:srgbClr val="1A1A1A"/>
                </a:solidFill>
                <a:latin typeface="Aptos" pitchFamily="34" charset="0"/>
                <a:ea typeface="Aptos" pitchFamily="34" charset="-122"/>
                <a:cs typeface="Aptos" pitchFamily="34" charset="-120"/>
              </a:rPr>
            </a:br>
            <a:endParaRPr lang="en-GB" sz="1700" noProof="0" dirty="0"/>
          </a:p>
          <a:p>
            <a:pPr marL="194310" indent="-194310">
              <a:lnSpc>
                <a:spcPct val="115000"/>
              </a:lnSpc>
              <a:spcAft>
                <a:spcPts val="600"/>
              </a:spcAft>
              <a:buSzPct val="100000"/>
              <a:buChar char="•"/>
            </a:pPr>
            <a:r>
              <a:rPr lang="en-GB" sz="1700" noProof="0" dirty="0">
                <a:solidFill>
                  <a:srgbClr val="1A1A1A"/>
                </a:solidFill>
                <a:latin typeface="Aptos" pitchFamily="34" charset="0"/>
                <a:ea typeface="Aptos" pitchFamily="34" charset="-122"/>
                <a:cs typeface="Aptos" pitchFamily="34" charset="-120"/>
              </a:rPr>
              <a:t>Inconsistency detection: </a:t>
            </a:r>
            <a:br>
              <a:rPr lang="pl-PL" sz="1700" noProof="0" dirty="0">
                <a:solidFill>
                  <a:srgbClr val="1A1A1A"/>
                </a:solidFill>
                <a:latin typeface="Aptos" pitchFamily="34" charset="0"/>
                <a:ea typeface="Aptos" pitchFamily="34" charset="-122"/>
                <a:cs typeface="Aptos" pitchFamily="34" charset="-120"/>
              </a:rPr>
            </a:br>
            <a:r>
              <a:rPr lang="en-GB" sz="1700" noProof="0" dirty="0">
                <a:solidFill>
                  <a:srgbClr val="1A1A1A"/>
                </a:solidFill>
                <a:latin typeface="Aptos" pitchFamily="34" charset="0"/>
                <a:ea typeface="Aptos" pitchFamily="34" charset="-122"/>
                <a:cs typeface="Aptos" pitchFamily="34" charset="-120"/>
              </a:rPr>
              <a:t>identify </a:t>
            </a:r>
            <a:r>
              <a:rPr lang="pl-PL" sz="1700" dirty="0" err="1">
                <a:solidFill>
                  <a:srgbClr val="1A1A1A"/>
                </a:solidFill>
                <a:latin typeface="Aptos" pitchFamily="34" charset="0"/>
                <a:ea typeface="Aptos" pitchFamily="34" charset="-122"/>
                <a:cs typeface="Aptos" pitchFamily="34" charset="-120"/>
              </a:rPr>
              <a:t>sensorial</a:t>
            </a:r>
            <a:r>
              <a:rPr lang="pl-PL" sz="1700" dirty="0">
                <a:solidFill>
                  <a:srgbClr val="1A1A1A"/>
                </a:solidFill>
                <a:latin typeface="Aptos" pitchFamily="34" charset="0"/>
                <a:ea typeface="Aptos" pitchFamily="34" charset="-122"/>
                <a:cs typeface="Aptos" pitchFamily="34" charset="-120"/>
              </a:rPr>
              <a:t> </a:t>
            </a:r>
            <a:r>
              <a:rPr lang="en-GB" sz="1700" noProof="0" dirty="0">
                <a:solidFill>
                  <a:srgbClr val="1A1A1A"/>
                </a:solidFill>
                <a:latin typeface="Aptos" pitchFamily="34" charset="0"/>
                <a:ea typeface="Aptos" pitchFamily="34" charset="-122"/>
                <a:cs typeface="Aptos" pitchFamily="34" charset="-120"/>
              </a:rPr>
              <a:t>misalignments (e.g., “green” claims vs sensory evidence) </a:t>
            </a:r>
            <a:r>
              <a:rPr lang="pl-PL" sz="1700" noProof="0" dirty="0">
                <a:solidFill>
                  <a:srgbClr val="1A1A1A"/>
                </a:solidFill>
                <a:latin typeface="Aptos" pitchFamily="34" charset="0"/>
                <a:ea typeface="Aptos" pitchFamily="34" charset="-122"/>
                <a:cs typeface="Aptos" pitchFamily="34" charset="-120"/>
              </a:rPr>
              <a:t>and </a:t>
            </a:r>
            <a:r>
              <a:rPr lang="en-GB" sz="1700" noProof="0" dirty="0">
                <a:solidFill>
                  <a:srgbClr val="1A1A1A"/>
                </a:solidFill>
                <a:latin typeface="Aptos" pitchFamily="34" charset="0"/>
                <a:ea typeface="Aptos" pitchFamily="34" charset="-122"/>
                <a:cs typeface="Aptos" pitchFamily="34" charset="-120"/>
              </a:rPr>
              <a:t>tensions.</a:t>
            </a:r>
            <a:br>
              <a:rPr lang="pl-PL" sz="1700" noProof="0" dirty="0">
                <a:solidFill>
                  <a:srgbClr val="1A1A1A"/>
                </a:solidFill>
                <a:latin typeface="Aptos" pitchFamily="34" charset="0"/>
                <a:ea typeface="Aptos" pitchFamily="34" charset="-122"/>
                <a:cs typeface="Aptos" pitchFamily="34" charset="-120"/>
              </a:rPr>
            </a:br>
            <a:endParaRPr lang="en-GB" sz="1700" noProof="0" dirty="0"/>
          </a:p>
          <a:p>
            <a:pPr marL="194310" indent="-194310">
              <a:lnSpc>
                <a:spcPct val="115000"/>
              </a:lnSpc>
              <a:spcAft>
                <a:spcPts val="600"/>
              </a:spcAft>
              <a:buSzPct val="100000"/>
              <a:buChar char="•"/>
            </a:pPr>
            <a:r>
              <a:rPr lang="en-GB" sz="1700" noProof="0" dirty="0">
                <a:solidFill>
                  <a:srgbClr val="1A1A1A"/>
                </a:solidFill>
                <a:latin typeface="Aptos" pitchFamily="34" charset="0"/>
                <a:ea typeface="Aptos" pitchFamily="34" charset="-122"/>
                <a:cs typeface="Aptos" pitchFamily="34" charset="-120"/>
              </a:rPr>
              <a:t>Resonance loop:</a:t>
            </a:r>
            <a:br>
              <a:rPr lang="pl-PL" sz="1700" noProof="0" dirty="0">
                <a:solidFill>
                  <a:srgbClr val="1A1A1A"/>
                </a:solidFill>
                <a:latin typeface="Aptos" pitchFamily="34" charset="0"/>
                <a:ea typeface="Aptos" pitchFamily="34" charset="-122"/>
                <a:cs typeface="Aptos" pitchFamily="34" charset="-120"/>
              </a:rPr>
            </a:br>
            <a:r>
              <a:rPr lang="en-GB" sz="1700" noProof="0" dirty="0">
                <a:solidFill>
                  <a:srgbClr val="1A1A1A"/>
                </a:solidFill>
                <a:latin typeface="Aptos" pitchFamily="34" charset="0"/>
                <a:ea typeface="Aptos" pitchFamily="34" charset="-122"/>
                <a:cs typeface="Aptos" pitchFamily="34" charset="-120"/>
              </a:rPr>
              <a:t> does an</a:t>
            </a:r>
            <a:r>
              <a:rPr lang="pl-PL" sz="1700" dirty="0">
                <a:solidFill>
                  <a:srgbClr val="1A1A1A"/>
                </a:solidFill>
                <a:latin typeface="Aptos" pitchFamily="34" charset="0"/>
                <a:ea typeface="Aptos" pitchFamily="34" charset="-122"/>
                <a:cs typeface="Aptos" pitchFamily="34" charset="-120"/>
              </a:rPr>
              <a:t> </a:t>
            </a:r>
            <a:r>
              <a:rPr lang="pl-PL" sz="1700" dirty="0" err="1">
                <a:solidFill>
                  <a:srgbClr val="1A1A1A"/>
                </a:solidFill>
                <a:latin typeface="Aptos" pitchFamily="34" charset="0"/>
                <a:ea typeface="Aptos" pitchFamily="34" charset="-122"/>
                <a:cs typeface="Aptos" pitchFamily="34" charset="-120"/>
              </a:rPr>
              <a:t>outcome</a:t>
            </a:r>
            <a:r>
              <a:rPr lang="pl-PL" sz="1700" dirty="0">
                <a:solidFill>
                  <a:srgbClr val="1A1A1A"/>
                </a:solidFill>
                <a:latin typeface="Aptos" pitchFamily="34" charset="0"/>
                <a:ea typeface="Aptos" pitchFamily="34" charset="-122"/>
                <a:cs typeface="Aptos" pitchFamily="34" charset="-120"/>
              </a:rPr>
              <a:t> </a:t>
            </a:r>
            <a:r>
              <a:rPr lang="pl-PL" sz="1700" dirty="0" err="1">
                <a:solidFill>
                  <a:srgbClr val="1A1A1A"/>
                </a:solidFill>
                <a:latin typeface="Aptos" pitchFamily="34" charset="0"/>
                <a:ea typeface="Aptos" pitchFamily="34" charset="-122"/>
                <a:cs typeface="Aptos" pitchFamily="34" charset="-120"/>
              </a:rPr>
              <a:t>turns</a:t>
            </a:r>
            <a:r>
              <a:rPr lang="pl-PL" sz="1700" dirty="0">
                <a:solidFill>
                  <a:srgbClr val="1A1A1A"/>
                </a:solidFill>
                <a:latin typeface="Aptos" pitchFamily="34" charset="0"/>
                <a:ea typeface="Aptos" pitchFamily="34" charset="-122"/>
                <a:cs typeface="Aptos" pitchFamily="34" charset="-120"/>
              </a:rPr>
              <a:t> </a:t>
            </a:r>
            <a:r>
              <a:rPr lang="pl-PL" sz="1700" dirty="0" err="1">
                <a:solidFill>
                  <a:srgbClr val="1A1A1A"/>
                </a:solidFill>
                <a:latin typeface="Aptos" pitchFamily="34" charset="0"/>
                <a:ea typeface="Aptos" pitchFamily="34" charset="-122"/>
                <a:cs typeface="Aptos" pitchFamily="34" charset="-120"/>
              </a:rPr>
              <a:t>into</a:t>
            </a:r>
            <a:r>
              <a:rPr lang="pl-PL" sz="1700" dirty="0">
                <a:solidFill>
                  <a:srgbClr val="1A1A1A"/>
                </a:solidFill>
                <a:latin typeface="Aptos" pitchFamily="34" charset="0"/>
                <a:ea typeface="Aptos" pitchFamily="34" charset="-122"/>
                <a:cs typeface="Aptos" pitchFamily="34" charset="-120"/>
              </a:rPr>
              <a:t> </a:t>
            </a:r>
            <a:r>
              <a:rPr lang="en-GB" sz="1700" noProof="0" dirty="0">
                <a:solidFill>
                  <a:srgbClr val="1A1A1A"/>
                </a:solidFill>
                <a:latin typeface="Aptos" pitchFamily="34" charset="0"/>
                <a:ea typeface="Aptos" pitchFamily="34" charset="-122"/>
                <a:cs typeface="Aptos" pitchFamily="34" charset="-120"/>
              </a:rPr>
              <a:t>intervention (Performance</a:t>
            </a:r>
            <a:r>
              <a:rPr lang="pl-PL" sz="1700" dirty="0">
                <a:solidFill>
                  <a:srgbClr val="1A1A1A"/>
                </a:solidFill>
                <a:latin typeface="Aptos" pitchFamily="34" charset="0"/>
                <a:ea typeface="Aptos" pitchFamily="34" charset="-122"/>
                <a:cs typeface="Aptos" pitchFamily="34" charset="-120"/>
              </a:rPr>
              <a:t>) </a:t>
            </a:r>
            <a:r>
              <a:rPr lang="pl-PL" sz="1700" dirty="0" err="1">
                <a:solidFill>
                  <a:srgbClr val="1A1A1A"/>
                </a:solidFill>
                <a:latin typeface="Aptos" pitchFamily="34" charset="0"/>
                <a:ea typeface="Aptos" pitchFamily="34" charset="-122"/>
                <a:cs typeface="Aptos" pitchFamily="34" charset="-120"/>
              </a:rPr>
              <a:t>or</a:t>
            </a:r>
            <a:r>
              <a:rPr lang="pl-PL" sz="1700" dirty="0">
                <a:solidFill>
                  <a:srgbClr val="1A1A1A"/>
                </a:solidFill>
                <a:latin typeface="Aptos" pitchFamily="34" charset="0"/>
                <a:ea typeface="Aptos" pitchFamily="34" charset="-122"/>
                <a:cs typeface="Aptos" pitchFamily="34" charset="-120"/>
              </a:rPr>
              <a:t> </a:t>
            </a:r>
            <a:r>
              <a:rPr lang="pl-PL" sz="1700" dirty="0" err="1">
                <a:solidFill>
                  <a:srgbClr val="1A1A1A"/>
                </a:solidFill>
                <a:latin typeface="Aptos" pitchFamily="34" charset="0"/>
                <a:ea typeface="Aptos" pitchFamily="34" charset="-122"/>
                <a:cs typeface="Aptos" pitchFamily="34" charset="-120"/>
              </a:rPr>
              <a:t>is</a:t>
            </a:r>
            <a:r>
              <a:rPr lang="pl-PL" sz="1700" dirty="0">
                <a:solidFill>
                  <a:srgbClr val="1A1A1A"/>
                </a:solidFill>
                <a:latin typeface="Aptos" pitchFamily="34" charset="0"/>
                <a:ea typeface="Aptos" pitchFamily="34" charset="-122"/>
                <a:cs typeface="Aptos" pitchFamily="34" charset="-120"/>
              </a:rPr>
              <a:t> </a:t>
            </a:r>
            <a:r>
              <a:rPr lang="pl-PL" sz="1700" dirty="0" err="1">
                <a:solidFill>
                  <a:srgbClr val="1A1A1A"/>
                </a:solidFill>
                <a:latin typeface="Aptos" pitchFamily="34" charset="0"/>
                <a:ea typeface="Aptos" pitchFamily="34" charset="-122"/>
                <a:cs typeface="Aptos" pitchFamily="34" charset="-120"/>
              </a:rPr>
              <a:t>passive</a:t>
            </a:r>
            <a:r>
              <a:rPr lang="pl-PL" sz="1700" dirty="0">
                <a:solidFill>
                  <a:srgbClr val="1A1A1A"/>
                </a:solidFill>
                <a:latin typeface="Aptos" pitchFamily="34" charset="0"/>
                <a:ea typeface="Aptos" pitchFamily="34" charset="-122"/>
                <a:cs typeface="Aptos" pitchFamily="34" charset="-120"/>
              </a:rPr>
              <a:t>/ </a:t>
            </a:r>
            <a:r>
              <a:rPr lang="pl-PL" sz="1700" dirty="0" err="1">
                <a:solidFill>
                  <a:srgbClr val="1A1A1A"/>
                </a:solidFill>
                <a:latin typeface="Aptos" pitchFamily="34" charset="0"/>
                <a:ea typeface="Aptos" pitchFamily="34" charset="-122"/>
                <a:cs typeface="Aptos" pitchFamily="34" charset="-120"/>
              </a:rPr>
              <a:t>offense</a:t>
            </a:r>
            <a:r>
              <a:rPr lang="pl-PL" sz="1700" dirty="0">
                <a:solidFill>
                  <a:srgbClr val="1A1A1A"/>
                </a:solidFill>
                <a:latin typeface="Aptos" pitchFamily="34" charset="0"/>
                <a:ea typeface="Aptos" pitchFamily="34" charset="-122"/>
                <a:cs typeface="Aptos" pitchFamily="34" charset="-120"/>
              </a:rPr>
              <a:t>…</a:t>
            </a:r>
            <a:br>
              <a:rPr lang="pl-PL" sz="1700" noProof="0" dirty="0">
                <a:solidFill>
                  <a:srgbClr val="1A1A1A"/>
                </a:solidFill>
                <a:latin typeface="Aptos" pitchFamily="34" charset="0"/>
                <a:ea typeface="Aptos" pitchFamily="34" charset="-122"/>
                <a:cs typeface="Aptos" pitchFamily="34" charset="-120"/>
              </a:rPr>
            </a:br>
            <a:r>
              <a:rPr lang="en-GB" sz="1700" noProof="0" dirty="0">
                <a:solidFill>
                  <a:srgbClr val="1A1A1A"/>
                </a:solidFill>
                <a:latin typeface="Aptos" pitchFamily="34" charset="0"/>
                <a:ea typeface="Aptos" pitchFamily="34" charset="-122"/>
                <a:cs typeface="Aptos" pitchFamily="34" charset="-120"/>
              </a:rPr>
              <a:t>If not, it may be “theatre”, not learning.</a:t>
            </a:r>
            <a:br>
              <a:rPr lang="pl-PL" sz="1700" noProof="0" dirty="0">
                <a:solidFill>
                  <a:srgbClr val="1A1A1A"/>
                </a:solidFill>
                <a:latin typeface="Aptos" pitchFamily="34" charset="0"/>
                <a:ea typeface="Aptos" pitchFamily="34" charset="-122"/>
                <a:cs typeface="Aptos" pitchFamily="34" charset="-120"/>
              </a:rPr>
            </a:br>
            <a:endParaRPr lang="en-GB" sz="1700" noProof="0" dirty="0"/>
          </a:p>
          <a:p>
            <a:pPr marL="194310" indent="-194310">
              <a:lnSpc>
                <a:spcPct val="115000"/>
              </a:lnSpc>
              <a:spcAft>
                <a:spcPts val="600"/>
              </a:spcAft>
              <a:buSzPct val="100000"/>
              <a:buChar char="•"/>
            </a:pPr>
            <a:r>
              <a:rPr lang="en-GB" sz="1700" noProof="0" dirty="0">
                <a:solidFill>
                  <a:srgbClr val="1A1A1A"/>
                </a:solidFill>
                <a:latin typeface="Aptos" pitchFamily="34" charset="0"/>
                <a:ea typeface="Aptos" pitchFamily="34" charset="-122"/>
                <a:cs typeface="Aptos" pitchFamily="34" charset="-120"/>
              </a:rPr>
              <a:t>Deliverables: </a:t>
            </a:r>
            <a:br>
              <a:rPr lang="pl-PL" sz="1700" noProof="0" dirty="0">
                <a:solidFill>
                  <a:srgbClr val="1A1A1A"/>
                </a:solidFill>
                <a:latin typeface="Aptos" pitchFamily="34" charset="0"/>
                <a:ea typeface="Aptos" pitchFamily="34" charset="-122"/>
                <a:cs typeface="Aptos" pitchFamily="34" charset="-120"/>
              </a:rPr>
            </a:br>
            <a:r>
              <a:rPr lang="en-GB" sz="1700" noProof="0" dirty="0">
                <a:solidFill>
                  <a:srgbClr val="1A1A1A"/>
                </a:solidFill>
                <a:latin typeface="Aptos" pitchFamily="34" charset="0"/>
                <a:ea typeface="Aptos" pitchFamily="34" charset="-122"/>
                <a:cs typeface="Aptos" pitchFamily="34" charset="-120"/>
              </a:rPr>
              <a:t>WG3 glossary entries, method toolkit, and cross-case narratives of inclusive energy transition.</a:t>
            </a:r>
            <a:endParaRPr lang="en-GB" sz="1700" noProof="0" dirty="0"/>
          </a:p>
          <a:p>
            <a:pPr>
              <a:lnSpc>
                <a:spcPct val="115000"/>
              </a:lnSpc>
              <a:spcAft>
                <a:spcPts val="600"/>
              </a:spcAft>
              <a:buSzPct val="100000"/>
            </a:pPr>
            <a:endParaRPr lang="pl-PL" sz="1700" noProof="0" dirty="0">
              <a:solidFill>
                <a:srgbClr val="1A1A1A"/>
              </a:solidFill>
              <a:latin typeface="Aptos" pitchFamily="34" charset="0"/>
              <a:ea typeface="Aptos" pitchFamily="34" charset="-122"/>
              <a:cs typeface="Aptos" pitchFamily="34" charset="-120"/>
            </a:endParaRPr>
          </a:p>
        </p:txBody>
      </p:sp>
      <p:sp>
        <p:nvSpPr>
          <p:cNvPr id="7" name="Shape 5"/>
          <p:cNvSpPr/>
          <p:nvPr/>
        </p:nvSpPr>
        <p:spPr>
          <a:xfrm>
            <a:off x="0" y="6629400"/>
            <a:ext cx="12191695" cy="228600"/>
          </a:xfrm>
          <a:prstGeom prst="rect">
            <a:avLst/>
          </a:prstGeom>
          <a:solidFill>
            <a:srgbClr val="EEF3F8"/>
          </a:solidFill>
          <a:ln w="12700">
            <a:solidFill>
              <a:srgbClr val="EEF3F8"/>
            </a:solidFill>
            <a:prstDash val="solid"/>
          </a:ln>
        </p:spPr>
        <p:txBody>
          <a:bodyPr/>
          <a:lstStyle/>
          <a:p>
            <a:endParaRPr lang="en-GB" noProof="0" dirty="0"/>
          </a:p>
        </p:txBody>
      </p:sp>
      <p:sp>
        <p:nvSpPr>
          <p:cNvPr id="8" name="Text 6"/>
          <p:cNvSpPr/>
          <p:nvPr/>
        </p:nvSpPr>
        <p:spPr>
          <a:xfrm>
            <a:off x="548640" y="6656832"/>
            <a:ext cx="8686800" cy="182880"/>
          </a:xfrm>
          <a:prstGeom prst="rect">
            <a:avLst/>
          </a:prstGeom>
          <a:noFill/>
          <a:ln/>
        </p:spPr>
        <p:txBody>
          <a:bodyPr wrap="square" rtlCol="0" anchor="ctr"/>
          <a:lstStyle/>
          <a:p>
            <a:pPr marL="0" indent="0">
              <a:buNone/>
            </a:pPr>
            <a:r>
              <a:rPr lang="en-GB" sz="1000" noProof="0" dirty="0">
                <a:solidFill>
                  <a:srgbClr val="5A6672"/>
                </a:solidFill>
                <a:latin typeface="Aptos" pitchFamily="34" charset="0"/>
                <a:ea typeface="Aptos" pitchFamily="34" charset="-122"/>
                <a:cs typeface="Aptos" pitchFamily="34" charset="-120"/>
              </a:rPr>
              <a:t>COST Action CA23138 (PACT) • Working Group 3 • Sensory Walk methodology</a:t>
            </a:r>
            <a:endParaRPr lang="en-GB" sz="1000" noProof="0" dirty="0"/>
          </a:p>
        </p:txBody>
      </p:sp>
      <p:sp>
        <p:nvSpPr>
          <p:cNvPr id="9" name="Text 7"/>
          <p:cNvSpPr/>
          <p:nvPr/>
        </p:nvSpPr>
        <p:spPr>
          <a:xfrm>
            <a:off x="9509760" y="6656832"/>
            <a:ext cx="2103120" cy="182880"/>
          </a:xfrm>
          <a:prstGeom prst="rect">
            <a:avLst/>
          </a:prstGeom>
          <a:noFill/>
          <a:ln/>
        </p:spPr>
        <p:txBody>
          <a:bodyPr wrap="square" rtlCol="0" anchor="ctr"/>
          <a:lstStyle/>
          <a:p>
            <a:pPr marL="0" indent="0" algn="r">
              <a:buNone/>
            </a:pPr>
            <a:r>
              <a:rPr lang="en-GB" sz="1000" noProof="0" dirty="0">
                <a:solidFill>
                  <a:srgbClr val="5A6672"/>
                </a:solidFill>
                <a:latin typeface="Aptos" pitchFamily="34" charset="0"/>
                <a:ea typeface="Aptos" pitchFamily="34" charset="-122"/>
                <a:cs typeface="Aptos" pitchFamily="34" charset="-120"/>
              </a:rPr>
              <a:t>From walk → knowledge</a:t>
            </a:r>
            <a:endParaRPr lang="en-GB" sz="100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TotalTime>
  <Words>1841</Words>
  <Application>Microsoft Office PowerPoint</Application>
  <PresentationFormat>Panoramiczny</PresentationFormat>
  <Paragraphs>109</Paragraphs>
  <Slides>4</Slides>
  <Notes>4</Notes>
  <HiddenSlides>0</HiddenSlides>
  <MMClips>0</MMClips>
  <ScaleCrop>false</ScaleCrop>
  <HeadingPairs>
    <vt:vector size="6" baseType="variant">
      <vt:variant>
        <vt:lpstr>Używane czcionki</vt:lpstr>
      </vt:variant>
      <vt:variant>
        <vt:i4>3</vt:i4>
      </vt:variant>
      <vt:variant>
        <vt:lpstr>Motyw</vt:lpstr>
      </vt:variant>
      <vt:variant>
        <vt:i4>1</vt:i4>
      </vt:variant>
      <vt:variant>
        <vt:lpstr>Tytuły slajdów</vt:lpstr>
      </vt:variant>
      <vt:variant>
        <vt:i4>4</vt:i4>
      </vt:variant>
    </vt:vector>
  </HeadingPairs>
  <TitlesOfParts>
    <vt:vector size="8" baseType="lpstr">
      <vt:lpstr>Aptos</vt:lpstr>
      <vt:lpstr>Aptos Display</vt:lpstr>
      <vt:lpstr>Arial</vt:lpstr>
      <vt:lpstr>Office Theme</vt:lpstr>
      <vt:lpstr>Prezentacja programu PowerPoint</vt:lpstr>
      <vt:lpstr>Prezentacja programu PowerPoint</vt:lpstr>
      <vt:lpstr>Prezentacja programu PowerPoint</vt:lpstr>
      <vt:lpstr>Prezentacja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Robert Bartłomiejski</cp:lastModifiedBy>
  <cp:revision>3</cp:revision>
  <dcterms:created xsi:type="dcterms:W3CDTF">2025-12-12T10:23:17Z</dcterms:created>
  <dcterms:modified xsi:type="dcterms:W3CDTF">2025-12-12T13:15:48Z</dcterms:modified>
</cp:coreProperties>
</file>